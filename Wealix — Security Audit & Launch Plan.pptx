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Score /10</c:v>
                </c:pt>
              </c:strCache>
            </c:strRef>
          </c:tx>
          <c:spPr>
            <a:solidFill>
              <a:srgbClr val="1A8C5B"/>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A8C5B"/>
              </a:solidFill>
              <a:effectLst/>
            </c:spPr>
          </c:dPt>
          <c:dPt>
            <c:idx val="1"/>
            <c:invertIfNegative val="0"/>
            <c:bubble3D val="0"/>
            <c:spPr>
              <a:solidFill>
                <a:srgbClr val="1A8C5B"/>
              </a:solidFill>
              <a:effectLst/>
            </c:spPr>
          </c:dPt>
          <c:dPt>
            <c:idx val="2"/>
            <c:invertIfNegative val="0"/>
            <c:bubble3D val="0"/>
            <c:spPr>
              <a:solidFill>
                <a:srgbClr val="E88A1A"/>
              </a:solidFill>
              <a:effectLst/>
            </c:spPr>
          </c:dPt>
          <c:dPt>
            <c:idx val="3"/>
            <c:invertIfNegative val="0"/>
            <c:bubble3D val="0"/>
            <c:spPr>
              <a:solidFill>
                <a:srgbClr val="1A8C5B"/>
              </a:solidFill>
              <a:effectLst/>
            </c:spPr>
          </c:dPt>
          <c:dPt>
            <c:idx val="4"/>
            <c:invertIfNegative val="0"/>
            <c:bubble3D val="0"/>
            <c:spPr>
              <a:solidFill>
                <a:srgbClr val="1A8C5B"/>
              </a:solidFill>
              <a:effectLst/>
            </c:spPr>
          </c:dPt>
          <c:dPt>
            <c:idx val="5"/>
            <c:invertIfNegative val="0"/>
            <c:bubble3D val="0"/>
            <c:spPr>
              <a:solidFill>
                <a:srgbClr val="E88A1A"/>
              </a:solidFill>
              <a:effectLst/>
            </c:spPr>
          </c:dPt>
          <c:dPt>
            <c:idx val="6"/>
            <c:invertIfNegative val="0"/>
            <c:bubble3D val="0"/>
            <c:spPr>
              <a:solidFill>
                <a:srgbClr val="E88A1A"/>
              </a:solidFill>
              <a:effectLst/>
            </c:spPr>
          </c:dPt>
          <c:dPt>
            <c:idx val="7"/>
            <c:invertIfNegative val="0"/>
            <c:bubble3D val="0"/>
            <c:spPr>
              <a:solidFill>
                <a:srgbClr val="E88A1A"/>
              </a:solidFill>
              <a:effectLst/>
            </c:spPr>
          </c:dPt>
          <c:dPt>
            <c:idx val="8"/>
            <c:invertIfNegative val="0"/>
            <c:bubble3D val="0"/>
            <c:spPr>
              <a:solidFill>
                <a:srgbClr val="E88A1A"/>
              </a:solidFill>
              <a:effectLst/>
            </c:spPr>
          </c:dPt>
          <c:cat>
            <c:multiLvlStrRef>
              <c:f>Sheet1!$A$2:$A$10</c:f>
              <c:multiLvlStrCache>
                <c:ptCount val="9"/>
                <c:lvl>
                  <c:pt idx="0">
                    <c:v>Auth &amp; Authorization</c:v>
                  </c:pt>
                  <c:pt idx="1">
                    <c:v>Input Validation</c:v>
                  </c:pt>
                  <c:pt idx="2">
                    <c:v>Rate Limiting</c:v>
                  </c:pt>
                  <c:pt idx="3">
                    <c:v>Error Handling</c:v>
                  </c:pt>
                  <c:pt idx="4">
                    <c:v>Security Headers</c:v>
                  </c:pt>
                  <c:pt idx="5">
                    <c:v>AI Safety / Prompts</c:v>
                  </c:pt>
                  <c:pt idx="6">
                    <c:v>Data Persistence</c:v>
                  </c:pt>
                  <c:pt idx="7">
                    <c:v>Supply Chain</c:v>
                  </c:pt>
                  <c:pt idx="8">
                    <c:v>Logging &amp; Monitoring</c:v>
                  </c:pt>
                </c:lvl>
              </c:multiLvlStrCache>
            </c:multiLvlStrRef>
          </c:cat>
          <c:val>
            <c:numRef>
              <c:f>Sheet1!$B$2:$B$10</c:f>
              <c:numCache>
                <c:formatCode>General</c:formatCode>
                <c:ptCount val="9"/>
                <c:pt idx="0">
                  <c:v>8</c:v>
                </c:pt>
                <c:pt idx="1">
                  <c:v>7</c:v>
                </c:pt>
                <c:pt idx="2">
                  <c:v>5</c:v>
                </c:pt>
                <c:pt idx="3">
                  <c:v>7</c:v>
                </c:pt>
                <c:pt idx="4">
                  <c:v>9</c:v>
                </c:pt>
                <c:pt idx="5">
                  <c:v>7</c:v>
                </c:pt>
                <c:pt idx="6">
                  <c:v>6</c:v>
                </c:pt>
                <c:pt idx="7">
                  <c:v>6</c:v>
                </c:pt>
                <c:pt idx="8">
                  <c:v>6</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8DFFE"/>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6350" cap="flat">
              <a:solidFill>
                <a:srgbClr val="1E2D5E"/>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C8DFFE"/>
                </a:solidFill>
                <a:latin typeface="Arial"/>
              </a:defRPr>
            </a:pPr>
            <a:endParaRPr lang="en-US"/>
          </a:p>
        </c:txPr>
        <c:crossAx val="2094734554"/>
        <c:crosses val="autoZero"/>
        <c:crossBetween val="between"/>
      </c:valAx>
      <c:spPr>
        <a:solidFill>
          <a:srgbClr val="152560"/>
        </a:solidFill>
        <a:ln>
          <a:noFill/>
        </a:ln>
        <a:effectLst/>
      </c:spPr>
    </c:plotArea>
    <c:plotVisOnly val="1"/>
    <c:dispBlanksAs val="span"/>
  </c:chart>
  <c:spPr>
    <a:solidFill>
      <a:srgbClr val="15256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52560"/>
          </a:solidFill>
          <a:ln w="12700">
            <a:solidFill>
              <a:srgbClr val="152560"/>
            </a:solidFill>
            <a:prstDash val="solid"/>
          </a:ln>
        </p:spPr>
      </p:sp>
      <p:sp>
        <p:nvSpPr>
          <p:cNvPr id="3" name="Shape 1"/>
          <p:cNvSpPr/>
          <p:nvPr/>
        </p:nvSpPr>
        <p:spPr>
          <a:xfrm>
            <a:off x="0" y="0"/>
            <a:ext cx="91440" cy="5143500"/>
          </a:xfrm>
          <a:prstGeom prst="rect">
            <a:avLst/>
          </a:prstGeom>
          <a:solidFill>
            <a:srgbClr val="0F7B8C"/>
          </a:solidFill>
          <a:ln w="12700">
            <a:solidFill>
              <a:srgbClr val="0F7B8C"/>
            </a:solidFill>
            <a:prstDash val="solid"/>
          </a:ln>
        </p:spPr>
      </p:sp>
      <p:pic>
        <p:nvPicPr>
          <p:cNvPr id="4" name="Image 0" descr="preencoded.png">    </p:cNvPr>
          <p:cNvPicPr>
            <a:picLocks noChangeAspect="1"/>
          </p:cNvPicPr>
          <p:nvPr/>
        </p:nvPicPr>
        <p:blipFill>
          <a:blip r:embed="rId1"/>
          <a:stretch>
            <a:fillRect/>
          </a:stretch>
        </p:blipFill>
        <p:spPr>
          <a:xfrm>
            <a:off x="1280160" y="548640"/>
            <a:ext cx="1280160" cy="1280160"/>
          </a:xfrm>
          <a:prstGeom prst="rect">
            <a:avLst/>
          </a:prstGeom>
        </p:spPr>
      </p:pic>
      <p:sp>
        <p:nvSpPr>
          <p:cNvPr id="5" name="Text 2"/>
          <p:cNvSpPr/>
          <p:nvPr/>
        </p:nvSpPr>
        <p:spPr>
          <a:xfrm>
            <a:off x="182880" y="1920240"/>
            <a:ext cx="3474720" cy="594360"/>
          </a:xfrm>
          <a:prstGeom prst="rect">
            <a:avLst/>
          </a:prstGeom>
          <a:noFill/>
          <a:ln/>
        </p:spPr>
        <p:txBody>
          <a:bodyPr wrap="square" lIns="0" tIns="0" rIns="0" bIns="0" rtlCol="0" anchor="ctr"/>
          <a:lstStyle/>
          <a:p>
            <a:pPr algn="ctr" indent="0" marL="0">
              <a:buNone/>
            </a:pPr>
            <a:r>
              <a:rPr lang="en-US" sz="3400" b="1" spc="600" kern="0" dirty="0">
                <a:solidFill>
                  <a:srgbClr val="FFFFFF"/>
                </a:solidFill>
                <a:latin typeface="Calibri" pitchFamily="34" charset="0"/>
                <a:ea typeface="Calibri" pitchFamily="34" charset="-122"/>
                <a:cs typeface="Calibri" pitchFamily="34" charset="-120"/>
              </a:rPr>
              <a:t>WEALIX</a:t>
            </a:r>
            <a:endParaRPr lang="en-US" sz="3400" dirty="0"/>
          </a:p>
        </p:txBody>
      </p:sp>
      <p:sp>
        <p:nvSpPr>
          <p:cNvPr id="6" name="Text 3"/>
          <p:cNvSpPr/>
          <p:nvPr/>
        </p:nvSpPr>
        <p:spPr>
          <a:xfrm>
            <a:off x="182880" y="2542032"/>
            <a:ext cx="3474720" cy="274320"/>
          </a:xfrm>
          <a:prstGeom prst="rect">
            <a:avLst/>
          </a:prstGeom>
          <a:noFill/>
          <a:ln/>
        </p:spPr>
        <p:txBody>
          <a:bodyPr wrap="square" lIns="0" tIns="0" rIns="0" bIns="0" rtlCol="0" anchor="ctr"/>
          <a:lstStyle/>
          <a:p>
            <a:pPr algn="ctr" indent="0" marL="0">
              <a:buNone/>
            </a:pPr>
            <a:r>
              <a:rPr lang="en-US" sz="1100" i="1" dirty="0">
                <a:solidFill>
                  <a:srgbClr val="14A8BD"/>
                </a:solidFill>
                <a:latin typeface="Calibri" pitchFamily="34" charset="0"/>
                <a:ea typeface="Calibri" pitchFamily="34" charset="-122"/>
                <a:cs typeface="Calibri" pitchFamily="34" charset="-120"/>
              </a:rPr>
              <a:t>Personal Wealth Operating System</a:t>
            </a:r>
            <a:endParaRPr lang="en-US" sz="1100" dirty="0"/>
          </a:p>
        </p:txBody>
      </p:sp>
      <p:sp>
        <p:nvSpPr>
          <p:cNvPr id="7" name="Text 4"/>
          <p:cNvSpPr/>
          <p:nvPr/>
        </p:nvSpPr>
        <p:spPr>
          <a:xfrm>
            <a:off x="4114800" y="914400"/>
            <a:ext cx="4754880" cy="6858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Security Audit &amp;</a:t>
            </a:r>
            <a:endParaRPr lang="en-US" sz="3800" dirty="0"/>
          </a:p>
        </p:txBody>
      </p:sp>
      <p:sp>
        <p:nvSpPr>
          <p:cNvPr id="8" name="Text 5"/>
          <p:cNvSpPr/>
          <p:nvPr/>
        </p:nvSpPr>
        <p:spPr>
          <a:xfrm>
            <a:off x="4114800" y="1572768"/>
            <a:ext cx="4754880" cy="685800"/>
          </a:xfrm>
          <a:prstGeom prst="rect">
            <a:avLst/>
          </a:prstGeom>
          <a:noFill/>
          <a:ln/>
        </p:spPr>
        <p:txBody>
          <a:bodyPr wrap="square" lIns="0" tIns="0" rIns="0" bIns="0" rtlCol="0" anchor="ctr"/>
          <a:lstStyle/>
          <a:p>
            <a:pPr indent="0" marL="0">
              <a:buNone/>
            </a:pPr>
            <a:r>
              <a:rPr lang="en-US" sz="3800" b="1" dirty="0">
                <a:solidFill>
                  <a:srgbClr val="14A8BD"/>
                </a:solidFill>
                <a:latin typeface="Calibri" pitchFamily="34" charset="0"/>
                <a:ea typeface="Calibri" pitchFamily="34" charset="-122"/>
                <a:cs typeface="Calibri" pitchFamily="34" charset="-120"/>
              </a:rPr>
              <a:t>Official Launch Plan</a:t>
            </a:r>
            <a:endParaRPr lang="en-US" sz="3800" dirty="0"/>
          </a:p>
        </p:txBody>
      </p:sp>
      <p:sp>
        <p:nvSpPr>
          <p:cNvPr id="9" name="Shape 6"/>
          <p:cNvSpPr/>
          <p:nvPr/>
        </p:nvSpPr>
        <p:spPr>
          <a:xfrm>
            <a:off x="4114800" y="2304288"/>
            <a:ext cx="4389120" cy="36576"/>
          </a:xfrm>
          <a:prstGeom prst="rect">
            <a:avLst/>
          </a:prstGeom>
          <a:solidFill>
            <a:srgbClr val="0F7B8C"/>
          </a:solidFill>
          <a:ln w="12700">
            <a:solidFill>
              <a:srgbClr val="0F7B8C"/>
            </a:solidFill>
            <a:prstDash val="solid"/>
          </a:ln>
        </p:spPr>
      </p:sp>
      <p:sp>
        <p:nvSpPr>
          <p:cNvPr id="10" name="Text 7"/>
          <p:cNvSpPr/>
          <p:nvPr/>
        </p:nvSpPr>
        <p:spPr>
          <a:xfrm>
            <a:off x="4114800" y="2487168"/>
            <a:ext cx="4754880" cy="274320"/>
          </a:xfrm>
          <a:prstGeom prst="rect">
            <a:avLst/>
          </a:prstGeom>
          <a:noFill/>
          <a:ln/>
        </p:spPr>
        <p:txBody>
          <a:bodyPr wrap="square" lIns="0" tIns="0" rIns="0" bIns="0" rtlCol="0" anchor="ctr"/>
          <a:lstStyle/>
          <a:p>
            <a:pPr indent="0" marL="0">
              <a:buNone/>
            </a:pPr>
            <a:r>
              <a:rPr lang="en-US" sz="1100" dirty="0">
                <a:solidFill>
                  <a:srgbClr val="C8DFFE"/>
                </a:solidFill>
                <a:latin typeface="Calibri" pitchFamily="34" charset="0"/>
                <a:ea typeface="Calibri" pitchFamily="34" charset="-122"/>
                <a:cs typeface="Calibri" pitchFamily="34" charset="-120"/>
              </a:rPr>
              <a:t>Conducted by: </a:t>
            </a:r>
            <a:pPr indent="0" marL="0">
              <a:buNone/>
            </a:pPr>
            <a:r>
              <a:rPr lang="en-US" sz="1100" b="1" dirty="0">
                <a:solidFill>
                  <a:srgbClr val="C8DFFE"/>
                </a:solidFill>
                <a:latin typeface="Calibri" pitchFamily="34" charset="0"/>
                <a:ea typeface="Calibri" pitchFamily="34" charset="-122"/>
                <a:cs typeface="Calibri" pitchFamily="34" charset="-120"/>
              </a:rPr>
              <a:t>Tri-Role Engineering Security Framework</a:t>
            </a:r>
            <a:endParaRPr lang="en-US" sz="1100" dirty="0"/>
          </a:p>
        </p:txBody>
      </p:sp>
      <p:sp>
        <p:nvSpPr>
          <p:cNvPr id="11" name="Text 8"/>
          <p:cNvSpPr/>
          <p:nvPr/>
        </p:nvSpPr>
        <p:spPr>
          <a:xfrm>
            <a:off x="4114800" y="2761488"/>
            <a:ext cx="4754880" cy="237744"/>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Full Stack Engineer  ·  QA Tester  ·  Security Engineer</a:t>
            </a:r>
            <a:endParaRPr lang="en-US" sz="1000" dirty="0"/>
          </a:p>
        </p:txBody>
      </p:sp>
      <p:sp>
        <p:nvSpPr>
          <p:cNvPr id="12" name="Shape 9"/>
          <p:cNvSpPr/>
          <p:nvPr/>
        </p:nvSpPr>
        <p:spPr>
          <a:xfrm>
            <a:off x="4114800" y="3246120"/>
            <a:ext cx="1417320" cy="438912"/>
          </a:xfrm>
          <a:prstGeom prst="rect">
            <a:avLst/>
          </a:prstGeom>
          <a:solidFill>
            <a:srgbClr val="152560"/>
          </a:solidFill>
          <a:ln w="12700">
            <a:solidFill>
              <a:srgbClr val="0F7B8C"/>
            </a:solidFill>
            <a:prstDash val="solid"/>
          </a:ln>
        </p:spPr>
      </p:sp>
      <p:sp>
        <p:nvSpPr>
          <p:cNvPr id="13" name="Text 10"/>
          <p:cNvSpPr/>
          <p:nvPr/>
        </p:nvSpPr>
        <p:spPr>
          <a:xfrm>
            <a:off x="4114800" y="3264408"/>
            <a:ext cx="1417320" cy="182880"/>
          </a:xfrm>
          <a:prstGeom prst="rect">
            <a:avLst/>
          </a:prstGeom>
          <a:noFill/>
          <a:ln/>
        </p:spPr>
        <p:txBody>
          <a:bodyPr wrap="square" lIns="0" tIns="0" rIns="0" bIns="0" rtlCol="0" anchor="ctr"/>
          <a:lstStyle/>
          <a:p>
            <a:pPr algn="ctr" indent="0" marL="0">
              <a:buNone/>
            </a:pPr>
            <a:r>
              <a:rPr lang="en-US" sz="800" dirty="0">
                <a:solidFill>
                  <a:srgbClr val="0F7B8C"/>
                </a:solidFill>
                <a:latin typeface="Calibri" pitchFamily="34" charset="0"/>
                <a:ea typeface="Calibri" pitchFamily="34" charset="-122"/>
                <a:cs typeface="Calibri" pitchFamily="34" charset="-120"/>
              </a:rPr>
              <a:t>Date</a:t>
            </a:r>
            <a:endParaRPr lang="en-US" sz="800" dirty="0"/>
          </a:p>
        </p:txBody>
      </p:sp>
      <p:sp>
        <p:nvSpPr>
          <p:cNvPr id="14" name="Text 11"/>
          <p:cNvSpPr/>
          <p:nvPr/>
        </p:nvSpPr>
        <p:spPr>
          <a:xfrm>
            <a:off x="4114800" y="3438144"/>
            <a:ext cx="141732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 28, 2026</a:t>
            </a:r>
            <a:endParaRPr lang="en-US" sz="900" dirty="0"/>
          </a:p>
        </p:txBody>
      </p:sp>
      <p:sp>
        <p:nvSpPr>
          <p:cNvPr id="15" name="Shape 12"/>
          <p:cNvSpPr/>
          <p:nvPr/>
        </p:nvSpPr>
        <p:spPr>
          <a:xfrm>
            <a:off x="5715000" y="3246120"/>
            <a:ext cx="1417320" cy="438912"/>
          </a:xfrm>
          <a:prstGeom prst="rect">
            <a:avLst/>
          </a:prstGeom>
          <a:solidFill>
            <a:srgbClr val="152560"/>
          </a:solidFill>
          <a:ln w="12700">
            <a:solidFill>
              <a:srgbClr val="0F7B8C"/>
            </a:solidFill>
            <a:prstDash val="solid"/>
          </a:ln>
        </p:spPr>
      </p:sp>
      <p:sp>
        <p:nvSpPr>
          <p:cNvPr id="16" name="Text 13"/>
          <p:cNvSpPr/>
          <p:nvPr/>
        </p:nvSpPr>
        <p:spPr>
          <a:xfrm>
            <a:off x="5715000" y="3264408"/>
            <a:ext cx="1417320" cy="182880"/>
          </a:xfrm>
          <a:prstGeom prst="rect">
            <a:avLst/>
          </a:prstGeom>
          <a:noFill/>
          <a:ln/>
        </p:spPr>
        <p:txBody>
          <a:bodyPr wrap="square" lIns="0" tIns="0" rIns="0" bIns="0" rtlCol="0" anchor="ctr"/>
          <a:lstStyle/>
          <a:p>
            <a:pPr algn="ctr" indent="0" marL="0">
              <a:buNone/>
            </a:pPr>
            <a:r>
              <a:rPr lang="en-US" sz="800" dirty="0">
                <a:solidFill>
                  <a:srgbClr val="0F7B8C"/>
                </a:solidFill>
                <a:latin typeface="Calibri" pitchFamily="34" charset="0"/>
                <a:ea typeface="Calibri" pitchFamily="34" charset="-122"/>
                <a:cs typeface="Calibri" pitchFamily="34" charset="-120"/>
              </a:rPr>
              <a:t>Version</a:t>
            </a:r>
            <a:endParaRPr lang="en-US" sz="800" dirty="0"/>
          </a:p>
        </p:txBody>
      </p:sp>
      <p:sp>
        <p:nvSpPr>
          <p:cNvPr id="17" name="Text 14"/>
          <p:cNvSpPr/>
          <p:nvPr/>
        </p:nvSpPr>
        <p:spPr>
          <a:xfrm>
            <a:off x="5715000" y="3438144"/>
            <a:ext cx="141732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v2.0 — Pre-Launch</a:t>
            </a:r>
            <a:endParaRPr lang="en-US" sz="900" dirty="0"/>
          </a:p>
        </p:txBody>
      </p:sp>
      <p:sp>
        <p:nvSpPr>
          <p:cNvPr id="18" name="Shape 15"/>
          <p:cNvSpPr/>
          <p:nvPr/>
        </p:nvSpPr>
        <p:spPr>
          <a:xfrm>
            <a:off x="7315200" y="3246120"/>
            <a:ext cx="1417320" cy="438912"/>
          </a:xfrm>
          <a:prstGeom prst="rect">
            <a:avLst/>
          </a:prstGeom>
          <a:solidFill>
            <a:srgbClr val="152560"/>
          </a:solidFill>
          <a:ln w="12700">
            <a:solidFill>
              <a:srgbClr val="0F7B8C"/>
            </a:solidFill>
            <a:prstDash val="solid"/>
          </a:ln>
        </p:spPr>
      </p:sp>
      <p:sp>
        <p:nvSpPr>
          <p:cNvPr id="19" name="Text 16"/>
          <p:cNvSpPr/>
          <p:nvPr/>
        </p:nvSpPr>
        <p:spPr>
          <a:xfrm>
            <a:off x="7315200" y="3264408"/>
            <a:ext cx="1417320" cy="182880"/>
          </a:xfrm>
          <a:prstGeom prst="rect">
            <a:avLst/>
          </a:prstGeom>
          <a:noFill/>
          <a:ln/>
        </p:spPr>
        <p:txBody>
          <a:bodyPr wrap="square" lIns="0" tIns="0" rIns="0" bIns="0" rtlCol="0" anchor="ctr"/>
          <a:lstStyle/>
          <a:p>
            <a:pPr algn="ctr" indent="0" marL="0">
              <a:buNone/>
            </a:pPr>
            <a:r>
              <a:rPr lang="en-US" sz="800" dirty="0">
                <a:solidFill>
                  <a:srgbClr val="0F7B8C"/>
                </a:solidFill>
                <a:latin typeface="Calibri" pitchFamily="34" charset="0"/>
                <a:ea typeface="Calibri" pitchFamily="34" charset="-122"/>
                <a:cs typeface="Calibri" pitchFamily="34" charset="-120"/>
              </a:rPr>
              <a:t>Classification</a:t>
            </a:r>
            <a:endParaRPr lang="en-US" sz="800" dirty="0"/>
          </a:p>
        </p:txBody>
      </p:sp>
      <p:sp>
        <p:nvSpPr>
          <p:cNvPr id="20" name="Text 17"/>
          <p:cNvSpPr/>
          <p:nvPr/>
        </p:nvSpPr>
        <p:spPr>
          <a:xfrm>
            <a:off x="7315200" y="3438144"/>
            <a:ext cx="141732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Confidential</a:t>
            </a:r>
            <a:endParaRPr lang="en-US" sz="900" dirty="0"/>
          </a:p>
        </p:txBody>
      </p:sp>
      <p:sp>
        <p:nvSpPr>
          <p:cNvPr id="21" name="Shape 18"/>
          <p:cNvSpPr/>
          <p:nvPr/>
        </p:nvSpPr>
        <p:spPr>
          <a:xfrm>
            <a:off x="0" y="4892040"/>
            <a:ext cx="9144000" cy="256032"/>
          </a:xfrm>
          <a:prstGeom prst="rect">
            <a:avLst/>
          </a:prstGeom>
          <a:solidFill>
            <a:srgbClr val="0F7B8C"/>
          </a:solidFill>
          <a:ln w="12700">
            <a:solidFill>
              <a:srgbClr val="0F7B8C"/>
            </a:solidFill>
            <a:prstDash val="solid"/>
          </a:ln>
        </p:spPr>
      </p:sp>
      <p:sp>
        <p:nvSpPr>
          <p:cNvPr id="22" name="Text 19"/>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STRICTLY CONFIDENTIAL — FOR INTERNAL EXECUTIVE REVIEW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Executive Summary</a:t>
            </a:r>
            <a:endParaRPr lang="en-US" sz="2600" dirty="0"/>
          </a:p>
        </p:txBody>
      </p:sp>
      <p:sp>
        <p:nvSpPr>
          <p:cNvPr id="4" name="Text 2"/>
          <p:cNvSpPr/>
          <p:nvPr/>
        </p:nvSpPr>
        <p:spPr>
          <a:xfrm>
            <a:off x="457200" y="768096"/>
            <a:ext cx="8229600" cy="292608"/>
          </a:xfrm>
          <a:prstGeom prst="rect">
            <a:avLst/>
          </a:prstGeom>
          <a:noFill/>
          <a:ln/>
        </p:spPr>
        <p:txBody>
          <a:bodyPr wrap="square" lIns="0" tIns="0" rIns="0" bIns="0" rtlCol="0" anchor="ctr"/>
          <a:lstStyle/>
          <a:p>
            <a:pPr indent="0" marL="0">
              <a:buNone/>
            </a:pPr>
            <a:r>
              <a:rPr lang="en-US" sz="1200" i="1" dirty="0">
                <a:solidFill>
                  <a:srgbClr val="C8DFFE"/>
                </a:solidFill>
                <a:latin typeface="Calibri" pitchFamily="34" charset="0"/>
                <a:ea typeface="Calibri" pitchFamily="34" charset="-122"/>
                <a:cs typeface="Calibri" pitchFamily="34" charset="-120"/>
              </a:rPr>
              <a:t>What this audit covers and what it found</a:t>
            </a:r>
            <a:endParaRPr lang="en-US" sz="1200" dirty="0"/>
          </a:p>
        </p:txBody>
      </p:sp>
      <p:sp>
        <p:nvSpPr>
          <p:cNvPr id="5" name="Shape 3"/>
          <p:cNvSpPr/>
          <p:nvPr/>
        </p:nvSpPr>
        <p:spPr>
          <a:xfrm>
            <a:off x="320040" y="1143000"/>
            <a:ext cx="2743200" cy="370332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320040" y="1143000"/>
            <a:ext cx="2743200" cy="54864"/>
          </a:xfrm>
          <a:prstGeom prst="rect">
            <a:avLst/>
          </a:prstGeom>
          <a:solidFill>
            <a:srgbClr val="0F7B8C"/>
          </a:solidFill>
          <a:ln w="12700">
            <a:solidFill>
              <a:srgbClr val="0F7B8C"/>
            </a:solidFill>
            <a:prstDash val="solid"/>
          </a:ln>
        </p:spPr>
      </p:sp>
      <p:pic>
        <p:nvPicPr>
          <p:cNvPr id="7" name="Image 0" descr="preencoded.png">    </p:cNvPr>
          <p:cNvPicPr>
            <a:picLocks noChangeAspect="1"/>
          </p:cNvPicPr>
          <p:nvPr/>
        </p:nvPicPr>
        <p:blipFill>
          <a:blip r:embed="rId1"/>
          <a:stretch>
            <a:fillRect/>
          </a:stretch>
        </p:blipFill>
        <p:spPr>
          <a:xfrm>
            <a:off x="429768" y="1261872"/>
            <a:ext cx="347472" cy="347472"/>
          </a:xfrm>
          <a:prstGeom prst="rect">
            <a:avLst/>
          </a:prstGeom>
        </p:spPr>
      </p:pic>
      <p:sp>
        <p:nvSpPr>
          <p:cNvPr id="8" name="Text 5"/>
          <p:cNvSpPr/>
          <p:nvPr/>
        </p:nvSpPr>
        <p:spPr>
          <a:xfrm>
            <a:off x="832104" y="1261872"/>
            <a:ext cx="21488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p>
        </p:txBody>
      </p:sp>
      <p:sp>
        <p:nvSpPr>
          <p:cNvPr id="9" name="Shape 6"/>
          <p:cNvSpPr/>
          <p:nvPr/>
        </p:nvSpPr>
        <p:spPr>
          <a:xfrm>
            <a:off x="429768" y="1636776"/>
            <a:ext cx="2523744" cy="18288"/>
          </a:xfrm>
          <a:prstGeom prst="rect">
            <a:avLst/>
          </a:prstGeom>
          <a:solidFill>
            <a:srgbClr val="0F7B8C"/>
          </a:solidFill>
          <a:ln w="12700">
            <a:solidFill>
              <a:srgbClr val="0F7B8C"/>
            </a:solidFill>
            <a:prstDash val="solid"/>
          </a:ln>
        </p:spPr>
      </p:sp>
      <p:sp>
        <p:nvSpPr>
          <p:cNvPr id="10" name="Text 7"/>
          <p:cNvSpPr/>
          <p:nvPr/>
        </p:nvSpPr>
        <p:spPr>
          <a:xfrm>
            <a:off x="429768" y="1700784"/>
            <a:ext cx="2523744" cy="3035808"/>
          </a:xfrm>
          <a:prstGeom prst="rect">
            <a:avLst/>
          </a:prstGeom>
          <a:noFill/>
          <a:ln/>
        </p:spPr>
        <p:txBody>
          <a:bodyPr wrap="square" lIns="0" tIns="0" rIns="0" bIns="0" rtlCol="0" anchor="t"/>
          <a:lstStyle/>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Next.js 16 / React 19 / TypeScript</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Deployed on Cloudflare Workers</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Clerk authentication (JWT + MFA)</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Cloudflare D1 (SQLite) persistence</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NVIDIA NIM LLMs + SAHMK market data</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Arabic &amp; English — MENA-first fintech</a:t>
            </a:r>
            <a:endParaRPr lang="en-US" sz="1150" dirty="0"/>
          </a:p>
        </p:txBody>
      </p:sp>
      <p:sp>
        <p:nvSpPr>
          <p:cNvPr id="11" name="Shape 8"/>
          <p:cNvSpPr/>
          <p:nvPr/>
        </p:nvSpPr>
        <p:spPr>
          <a:xfrm>
            <a:off x="3200400" y="1143000"/>
            <a:ext cx="2743200" cy="370332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12" name="Shape 9"/>
          <p:cNvSpPr/>
          <p:nvPr/>
        </p:nvSpPr>
        <p:spPr>
          <a:xfrm>
            <a:off x="3200400" y="1143000"/>
            <a:ext cx="2743200" cy="54864"/>
          </a:xfrm>
          <a:prstGeom prst="rect">
            <a:avLst/>
          </a:prstGeom>
          <a:solidFill>
            <a:srgbClr val="C8A951"/>
          </a:solidFill>
          <a:ln w="12700">
            <a:solidFill>
              <a:srgbClr val="C8A951"/>
            </a:solidFill>
            <a:prstDash val="solid"/>
          </a:ln>
        </p:spPr>
      </p:sp>
      <p:pic>
        <p:nvPicPr>
          <p:cNvPr id="13" name="Image 1" descr="preencoded.png">    </p:cNvPr>
          <p:cNvPicPr>
            <a:picLocks noChangeAspect="1"/>
          </p:cNvPicPr>
          <p:nvPr/>
        </p:nvPicPr>
        <p:blipFill>
          <a:blip r:embed="rId2"/>
          <a:stretch>
            <a:fillRect/>
          </a:stretch>
        </p:blipFill>
        <p:spPr>
          <a:xfrm>
            <a:off x="3310128" y="1261872"/>
            <a:ext cx="347472" cy="347472"/>
          </a:xfrm>
          <a:prstGeom prst="rect">
            <a:avLst/>
          </a:prstGeom>
        </p:spPr>
      </p:pic>
      <p:sp>
        <p:nvSpPr>
          <p:cNvPr id="14" name="Text 10"/>
          <p:cNvSpPr/>
          <p:nvPr/>
        </p:nvSpPr>
        <p:spPr>
          <a:xfrm>
            <a:off x="3712464" y="1261872"/>
            <a:ext cx="21488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Audit Scope</a:t>
            </a:r>
            <a:endParaRPr lang="en-US" sz="1400" dirty="0"/>
          </a:p>
        </p:txBody>
      </p:sp>
      <p:sp>
        <p:nvSpPr>
          <p:cNvPr id="15" name="Shape 11"/>
          <p:cNvSpPr/>
          <p:nvPr/>
        </p:nvSpPr>
        <p:spPr>
          <a:xfrm>
            <a:off x="3310128" y="1636776"/>
            <a:ext cx="2523744" cy="18288"/>
          </a:xfrm>
          <a:prstGeom prst="rect">
            <a:avLst/>
          </a:prstGeom>
          <a:solidFill>
            <a:srgbClr val="C8A951"/>
          </a:solidFill>
          <a:ln w="12700">
            <a:solidFill>
              <a:srgbClr val="C8A951"/>
            </a:solidFill>
            <a:prstDash val="solid"/>
          </a:ln>
        </p:spPr>
      </p:sp>
      <p:sp>
        <p:nvSpPr>
          <p:cNvPr id="16" name="Text 12"/>
          <p:cNvSpPr/>
          <p:nvPr/>
        </p:nvSpPr>
        <p:spPr>
          <a:xfrm>
            <a:off x="3310128" y="1700784"/>
            <a:ext cx="2523744" cy="3035808"/>
          </a:xfrm>
          <a:prstGeom prst="rect">
            <a:avLst/>
          </a:prstGeom>
          <a:noFill/>
          <a:ln/>
        </p:spPr>
        <p:txBody>
          <a:bodyPr wrap="square" lIns="0" tIns="0" rIns="0" bIns="0" rtlCol="0" anchor="t"/>
          <a:lstStyle/>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All 9 API route handlers</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Authentication &amp; tier enforcement</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Rate limiting &amp; DoS vectors</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AI prompt injection defenses</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Input validation &amp; schema safety</a:t>
            </a:r>
            <a:endParaRPr lang="en-US" sz="1150" dirty="0"/>
          </a:p>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Supply chain &amp; dependency risks</a:t>
            </a:r>
            <a:endParaRPr lang="en-US" sz="1150" dirty="0"/>
          </a:p>
        </p:txBody>
      </p:sp>
      <p:sp>
        <p:nvSpPr>
          <p:cNvPr id="17" name="Shape 13"/>
          <p:cNvSpPr/>
          <p:nvPr/>
        </p:nvSpPr>
        <p:spPr>
          <a:xfrm>
            <a:off x="6080760" y="1143000"/>
            <a:ext cx="2743200" cy="370332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18" name="Shape 14"/>
          <p:cNvSpPr/>
          <p:nvPr/>
        </p:nvSpPr>
        <p:spPr>
          <a:xfrm>
            <a:off x="6080760" y="1143000"/>
            <a:ext cx="2743200" cy="54864"/>
          </a:xfrm>
          <a:prstGeom prst="rect">
            <a:avLst/>
          </a:prstGeom>
          <a:solidFill>
            <a:srgbClr val="E88A1A"/>
          </a:solidFill>
          <a:ln w="12700">
            <a:solidFill>
              <a:srgbClr val="E88A1A"/>
            </a:solidFill>
            <a:prstDash val="solid"/>
          </a:ln>
        </p:spPr>
      </p:sp>
      <p:pic>
        <p:nvPicPr>
          <p:cNvPr id="19" name="Image 2" descr="preencoded.png">    </p:cNvPr>
          <p:cNvPicPr>
            <a:picLocks noChangeAspect="1"/>
          </p:cNvPicPr>
          <p:nvPr/>
        </p:nvPicPr>
        <p:blipFill>
          <a:blip r:embed="rId3"/>
          <a:stretch>
            <a:fillRect/>
          </a:stretch>
        </p:blipFill>
        <p:spPr>
          <a:xfrm>
            <a:off x="6190488" y="1261872"/>
            <a:ext cx="347472" cy="347472"/>
          </a:xfrm>
          <a:prstGeom prst="rect">
            <a:avLst/>
          </a:prstGeom>
        </p:spPr>
      </p:pic>
      <p:sp>
        <p:nvSpPr>
          <p:cNvPr id="20" name="Text 15"/>
          <p:cNvSpPr/>
          <p:nvPr/>
        </p:nvSpPr>
        <p:spPr>
          <a:xfrm>
            <a:off x="6592824" y="1261872"/>
            <a:ext cx="21488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 Verdict</a:t>
            </a:r>
            <a:endParaRPr lang="en-US" sz="1400" dirty="0"/>
          </a:p>
        </p:txBody>
      </p:sp>
      <p:sp>
        <p:nvSpPr>
          <p:cNvPr id="21" name="Shape 16"/>
          <p:cNvSpPr/>
          <p:nvPr/>
        </p:nvSpPr>
        <p:spPr>
          <a:xfrm>
            <a:off x="6190488" y="1636776"/>
            <a:ext cx="2523744" cy="18288"/>
          </a:xfrm>
          <a:prstGeom prst="rect">
            <a:avLst/>
          </a:prstGeom>
          <a:solidFill>
            <a:srgbClr val="E88A1A"/>
          </a:solidFill>
          <a:ln w="12700">
            <a:solidFill>
              <a:srgbClr val="E88A1A"/>
            </a:solidFill>
            <a:prstDash val="solid"/>
          </a:ln>
        </p:spPr>
      </p:sp>
      <p:sp>
        <p:nvSpPr>
          <p:cNvPr id="22" name="Text 17"/>
          <p:cNvSpPr/>
          <p:nvPr/>
        </p:nvSpPr>
        <p:spPr>
          <a:xfrm>
            <a:off x="6190488" y="1700784"/>
            <a:ext cx="2523744" cy="3035808"/>
          </a:xfrm>
          <a:prstGeom prst="rect">
            <a:avLst/>
          </a:prstGeom>
          <a:noFill/>
          <a:ln/>
        </p:spPr>
        <p:txBody>
          <a:bodyPr wrap="square" lIns="0" tIns="0" rIns="0" bIns="0" rtlCol="0" anchor="t"/>
          <a:lstStyle/>
          <a:p>
            <a:pPr marL="342900" indent="-342900">
              <a:buSzPct val="100000"/>
              <a:buChar char="•"/>
            </a:pPr>
            <a:r>
              <a:rPr lang="en-US" sz="1150" dirty="0">
                <a:solidFill>
                  <a:srgbClr val="C8DFFE"/>
                </a:solidFill>
                <a:latin typeface="Calibri" pitchFamily="34" charset="0"/>
                <a:ea typeface="Calibri" pitchFamily="34" charset="-122"/>
                <a:cs typeface="Calibri" pitchFamily="34" charset="-120"/>
              </a:rPr>
              <a:t>Overall readiness: 7.0 / 10</a:t>
            </a:r>
            <a:endParaRPr lang="en-US" sz="1150" dirty="0"/>
          </a:p>
          <a:p>
            <a:pPr marL="342900" indent="-342900">
              <a:buSzPct val="100000"/>
              <a:buChar char="•"/>
            </a:pPr>
            <a:r>
              <a:rPr lang="en-US" sz="1150" dirty="0">
                <a:solidFill>
                  <a:srgbClr val="14A8BD"/>
                </a:solidFill>
                <a:latin typeface="Calibri" pitchFamily="34" charset="0"/>
                <a:ea typeface="Calibri" pitchFamily="34" charset="-122"/>
                <a:cs typeface="Calibri" pitchFamily="34" charset="-120"/>
              </a:rPr>
              <a:t>Auth &amp; headers: STRONG ✓</a:t>
            </a:r>
            <a:endParaRPr lang="en-US" sz="1150" dirty="0"/>
          </a:p>
          <a:p>
            <a:pPr marL="342900" indent="-342900">
              <a:buSzPct val="100000"/>
              <a:buChar char="•"/>
            </a:pPr>
            <a:r>
              <a:rPr lang="en-US" sz="1150" dirty="0">
                <a:solidFill>
                  <a:srgbClr val="C8A951"/>
                </a:solidFill>
                <a:latin typeface="Calibri" pitchFamily="34" charset="0"/>
                <a:ea typeface="Calibri" pitchFamily="34" charset="-122"/>
                <a:cs typeface="Calibri" pitchFamily="34" charset="-120"/>
              </a:rPr>
              <a:t>Rate limiter: EDGE-UNSAFE ⚠</a:t>
            </a:r>
            <a:endParaRPr lang="en-US" sz="1150" dirty="0"/>
          </a:p>
          <a:p>
            <a:pPr marL="342900" indent="-342900">
              <a:buSzPct val="100000"/>
              <a:buChar char="•"/>
            </a:pPr>
            <a:r>
              <a:rPr lang="en-US" sz="1150" dirty="0">
                <a:solidFill>
                  <a:srgbClr val="C8A951"/>
                </a:solidFill>
                <a:latin typeface="Calibri" pitchFamily="34" charset="0"/>
                <a:ea typeface="Calibri" pitchFamily="34" charset="-122"/>
                <a:cs typeface="Calibri" pitchFamily="34" charset="-120"/>
              </a:rPr>
              <a:t>AI context injection: GAP ⚠</a:t>
            </a:r>
            <a:endParaRPr lang="en-US" sz="1150" dirty="0"/>
          </a:p>
          <a:p>
            <a:pPr marL="342900" indent="-342900">
              <a:buSzPct val="100000"/>
              <a:buChar char="•"/>
            </a:pPr>
            <a:r>
              <a:rPr lang="en-US" sz="1150" dirty="0">
                <a:solidFill>
                  <a:srgbClr val="C8A951"/>
                </a:solidFill>
                <a:latin typeface="Calibri" pitchFamily="34" charset="0"/>
                <a:ea typeface="Calibri" pitchFamily="34" charset="-122"/>
                <a:cs typeface="Calibri" pitchFamily="34" charset="-120"/>
              </a:rPr>
              <a:t>Workspace schema: UNVALIDATED ⚠</a:t>
            </a:r>
            <a:endParaRPr lang="en-US" sz="1150" dirty="0"/>
          </a:p>
          <a:p>
            <a:pPr marL="342900" indent="-342900">
              <a:buSzPct val="100000"/>
              <a:buChar char="•"/>
            </a:pPr>
            <a:r>
              <a:rPr lang="en-US" sz="1150" dirty="0">
                <a:solidFill>
                  <a:srgbClr val="C8A951"/>
                </a:solidFill>
                <a:latin typeface="Calibri" pitchFamily="34" charset="0"/>
                <a:ea typeface="Calibri" pitchFamily="34" charset="-122"/>
                <a:cs typeface="Calibri" pitchFamily="34" charset="-120"/>
              </a:rPr>
              <a:t>Supply chain: xlsx CVE critical ⚠</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Launch Readiness Score Dashboard</a:t>
            </a:r>
            <a:endParaRPr lang="en-US" sz="2600" dirty="0"/>
          </a:p>
        </p:txBody>
      </p:sp>
      <p:sp>
        <p:nvSpPr>
          <p:cNvPr id="4" name="Text 2"/>
          <p:cNvSpPr/>
          <p:nvPr/>
        </p:nvSpPr>
        <p:spPr>
          <a:xfrm>
            <a:off x="457200" y="768096"/>
            <a:ext cx="8229600" cy="292608"/>
          </a:xfrm>
          <a:prstGeom prst="rect">
            <a:avLst/>
          </a:prstGeom>
          <a:noFill/>
          <a:ln/>
        </p:spPr>
        <p:txBody>
          <a:bodyPr wrap="square" lIns="0" tIns="0" rIns="0" bIns="0" rtlCol="0" anchor="ctr"/>
          <a:lstStyle/>
          <a:p>
            <a:pPr indent="0" marL="0">
              <a:buNone/>
            </a:pPr>
            <a:r>
              <a:rPr lang="en-US" sz="1200" i="1" dirty="0">
                <a:solidFill>
                  <a:srgbClr val="C8DFFE"/>
                </a:solidFill>
                <a:latin typeface="Calibri" pitchFamily="34" charset="0"/>
                <a:ea typeface="Calibri" pitchFamily="34" charset="-122"/>
                <a:cs typeface="Calibri" pitchFamily="34" charset="-120"/>
              </a:rPr>
              <a:t>Security posture across 9 dimensions — audited March 2026</a:t>
            </a:r>
            <a:endParaRPr lang="en-US" sz="1200" dirty="0"/>
          </a:p>
        </p:txBody>
      </p:sp>
      <p:graphicFrame>
        <p:nvGraphicFramePr>
          <p:cNvPr id="5" name="Chart 0" descr=""/>
          <p:cNvGraphicFramePr/>
          <p:nvPr/>
        </p:nvGraphicFramePr>
        <p:xfrm>
          <a:off x="320040" y="1005840"/>
          <a:ext cx="521208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63240" cy="132588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7" name="Shape 4"/>
          <p:cNvSpPr/>
          <p:nvPr/>
        </p:nvSpPr>
        <p:spPr>
          <a:xfrm>
            <a:off x="5760720" y="1005840"/>
            <a:ext cx="3063240" cy="54864"/>
          </a:xfrm>
          <a:prstGeom prst="rect">
            <a:avLst/>
          </a:prstGeom>
          <a:solidFill>
            <a:srgbClr val="0F7B8C"/>
          </a:solidFill>
          <a:ln w="12700">
            <a:solidFill>
              <a:srgbClr val="0F7B8C"/>
            </a:solidFill>
            <a:prstDash val="solid"/>
          </a:ln>
        </p:spPr>
      </p:sp>
      <p:sp>
        <p:nvSpPr>
          <p:cNvPr id="8" name="Text 5"/>
          <p:cNvSpPr/>
          <p:nvPr/>
        </p:nvSpPr>
        <p:spPr>
          <a:xfrm>
            <a:off x="5760720" y="1097280"/>
            <a:ext cx="3063240" cy="713232"/>
          </a:xfrm>
          <a:prstGeom prst="rect">
            <a:avLst/>
          </a:prstGeom>
          <a:noFill/>
          <a:ln/>
        </p:spPr>
        <p:txBody>
          <a:bodyPr wrap="square" lIns="0" tIns="0" rIns="0" bIns="0"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7.0</a:t>
            </a:r>
            <a:endParaRPr lang="en-US" sz="5200" dirty="0"/>
          </a:p>
        </p:txBody>
      </p:sp>
      <p:sp>
        <p:nvSpPr>
          <p:cNvPr id="9" name="Text 6"/>
          <p:cNvSpPr/>
          <p:nvPr/>
        </p:nvSpPr>
        <p:spPr>
          <a:xfrm>
            <a:off x="5760720" y="1810512"/>
            <a:ext cx="3063240" cy="237744"/>
          </a:xfrm>
          <a:prstGeom prst="rect">
            <a:avLst/>
          </a:prstGeom>
          <a:noFill/>
          <a:ln/>
        </p:spPr>
        <p:txBody>
          <a:bodyPr wrap="square" lIns="0" tIns="0" rIns="0" bIns="0" rtlCol="0" anchor="ctr"/>
          <a:lstStyle/>
          <a:p>
            <a:pPr algn="ctr" indent="0" marL="0">
              <a:buNone/>
            </a:pPr>
            <a:r>
              <a:rPr lang="en-US" sz="950" spc="100" kern="0" dirty="0">
                <a:solidFill>
                  <a:srgbClr val="0F7B8C"/>
                </a:solidFill>
                <a:latin typeface="Calibri" pitchFamily="34" charset="0"/>
                <a:ea typeface="Calibri" pitchFamily="34" charset="-122"/>
                <a:cs typeface="Calibri" pitchFamily="34" charset="-120"/>
              </a:rPr>
              <a:t>/ 10  —  OVERALL READINESS</a:t>
            </a:r>
            <a:endParaRPr lang="en-US" sz="950" dirty="0"/>
          </a:p>
        </p:txBody>
      </p:sp>
      <p:sp>
        <p:nvSpPr>
          <p:cNvPr id="10" name="Shape 7"/>
          <p:cNvSpPr/>
          <p:nvPr/>
        </p:nvSpPr>
        <p:spPr>
          <a:xfrm>
            <a:off x="5760720" y="2468880"/>
            <a:ext cx="3063240" cy="438912"/>
          </a:xfrm>
          <a:prstGeom prst="rect">
            <a:avLst/>
          </a:prstGeom>
          <a:solidFill>
            <a:srgbClr val="152560"/>
          </a:solidFill>
          <a:ln w="12700">
            <a:solidFill>
              <a:srgbClr val="E88A1A"/>
            </a:solidFill>
            <a:prstDash val="solid"/>
          </a:ln>
          <a:effectLst>
            <a:outerShdw sx="100000" sy="100000" kx="0" ky="0" algn="bl" rotWithShape="0" blurRad="63500" dist="25400" dir="8100000">
              <a:srgbClr val="000000">
                <a:alpha val="12000"/>
              </a:srgbClr>
            </a:outerShdw>
          </a:effectLst>
        </p:spPr>
      </p:sp>
      <p:sp>
        <p:nvSpPr>
          <p:cNvPr id="11" name="Text 8"/>
          <p:cNvSpPr/>
          <p:nvPr/>
        </p:nvSpPr>
        <p:spPr>
          <a:xfrm>
            <a:off x="5760720" y="2468880"/>
            <a:ext cx="3063240" cy="438912"/>
          </a:xfrm>
          <a:prstGeom prst="rect">
            <a:avLst/>
          </a:prstGeom>
          <a:noFill/>
          <a:ln/>
        </p:spPr>
        <p:txBody>
          <a:bodyPr wrap="square" lIns="0" tIns="0" rIns="0" bIns="0" rtlCol="0" anchor="ctr"/>
          <a:lstStyle/>
          <a:p>
            <a:pPr algn="ctr" indent="0" marL="0">
              <a:buNone/>
            </a:pPr>
            <a:r>
              <a:rPr lang="en-US" sz="1200" b="1" dirty="0">
                <a:solidFill>
                  <a:srgbClr val="E88A1A"/>
                </a:solidFill>
                <a:latin typeface="Calibri" pitchFamily="34" charset="0"/>
                <a:ea typeface="Calibri" pitchFamily="34" charset="-122"/>
                <a:cs typeface="Calibri" pitchFamily="34" charset="-120"/>
              </a:rPr>
              <a:t>CONDITIONAL LAUNCH</a:t>
            </a:r>
            <a:endParaRPr lang="en-US" sz="1200" dirty="0"/>
          </a:p>
        </p:txBody>
      </p:sp>
      <p:sp>
        <p:nvSpPr>
          <p:cNvPr id="12" name="Shape 9"/>
          <p:cNvSpPr/>
          <p:nvPr/>
        </p:nvSpPr>
        <p:spPr>
          <a:xfrm>
            <a:off x="5760720" y="3035808"/>
            <a:ext cx="3063240" cy="438912"/>
          </a:xfrm>
          <a:prstGeom prst="rect">
            <a:avLst/>
          </a:prstGeom>
          <a:solidFill>
            <a:srgbClr val="152560"/>
          </a:solidFill>
          <a:ln w="12700">
            <a:solidFill>
              <a:srgbClr val="D93025"/>
            </a:solidFill>
            <a:prstDash val="solid"/>
          </a:ln>
          <a:effectLst>
            <a:outerShdw sx="100000" sy="100000" kx="0" ky="0" algn="bl" rotWithShape="0" blurRad="63500" dist="25400" dir="8100000">
              <a:srgbClr val="000000">
                <a:alpha val="12000"/>
              </a:srgbClr>
            </a:outerShdw>
          </a:effectLst>
        </p:spPr>
      </p:sp>
      <p:sp>
        <p:nvSpPr>
          <p:cNvPr id="13" name="Text 10"/>
          <p:cNvSpPr/>
          <p:nvPr/>
        </p:nvSpPr>
        <p:spPr>
          <a:xfrm>
            <a:off x="5760720" y="3035808"/>
            <a:ext cx="3063240" cy="438912"/>
          </a:xfrm>
          <a:prstGeom prst="rect">
            <a:avLst/>
          </a:prstGeom>
          <a:noFill/>
          <a:ln/>
        </p:spPr>
        <p:txBody>
          <a:bodyPr wrap="square" lIns="0" tIns="0" rIns="0" bIns="0" rtlCol="0" anchor="ctr"/>
          <a:lstStyle/>
          <a:p>
            <a:pPr algn="ctr" indent="0" marL="0">
              <a:buNone/>
            </a:pPr>
            <a:r>
              <a:rPr lang="en-US" sz="1200" b="1" dirty="0">
                <a:solidFill>
                  <a:srgbClr val="D93025"/>
                </a:solidFill>
                <a:latin typeface="Calibri" pitchFamily="34" charset="0"/>
                <a:ea typeface="Calibri" pitchFamily="34" charset="-122"/>
                <a:cs typeface="Calibri" pitchFamily="34" charset="-120"/>
              </a:rPr>
              <a:t>3 PRE-LAUNCH BLOCKERS</a:t>
            </a:r>
            <a:endParaRPr lang="en-US" sz="1200" dirty="0"/>
          </a:p>
        </p:txBody>
      </p:sp>
      <p:sp>
        <p:nvSpPr>
          <p:cNvPr id="14" name="Shape 11"/>
          <p:cNvSpPr/>
          <p:nvPr/>
        </p:nvSpPr>
        <p:spPr>
          <a:xfrm>
            <a:off x="5760720" y="3602736"/>
            <a:ext cx="3063240" cy="438912"/>
          </a:xfrm>
          <a:prstGeom prst="rect">
            <a:avLst/>
          </a:prstGeom>
          <a:solidFill>
            <a:srgbClr val="152560"/>
          </a:solidFill>
          <a:ln w="12700">
            <a:solidFill>
              <a:srgbClr val="0F7B8C"/>
            </a:solidFill>
            <a:prstDash val="solid"/>
          </a:ln>
          <a:effectLst>
            <a:outerShdw sx="100000" sy="100000" kx="0" ky="0" algn="bl" rotWithShape="0" blurRad="63500" dist="25400" dir="8100000">
              <a:srgbClr val="000000">
                <a:alpha val="12000"/>
              </a:srgbClr>
            </a:outerShdw>
          </a:effectLst>
        </p:spPr>
      </p:sp>
      <p:sp>
        <p:nvSpPr>
          <p:cNvPr id="15" name="Text 12"/>
          <p:cNvSpPr/>
          <p:nvPr/>
        </p:nvSpPr>
        <p:spPr>
          <a:xfrm>
            <a:off x="5760720" y="3602736"/>
            <a:ext cx="3063240" cy="438912"/>
          </a:xfrm>
          <a:prstGeom prst="rect">
            <a:avLst/>
          </a:prstGeom>
          <a:noFill/>
          <a:ln/>
        </p:spPr>
        <p:txBody>
          <a:bodyPr wrap="square" lIns="0" tIns="0" rIns="0" bIns="0" rtlCol="0" anchor="ctr"/>
          <a:lstStyle/>
          <a:p>
            <a:pPr algn="ctr" indent="0" marL="0">
              <a:buNone/>
            </a:pPr>
            <a:r>
              <a:rPr lang="en-US" sz="1200" b="1" dirty="0">
                <a:solidFill>
                  <a:srgbClr val="0F7B8C"/>
                </a:solidFill>
                <a:latin typeface="Calibri" pitchFamily="34" charset="0"/>
                <a:ea typeface="Calibri" pitchFamily="34" charset="-122"/>
                <a:cs typeface="Calibri" pitchFamily="34" charset="-120"/>
              </a:rPr>
              <a:t>5 POST-LAUNCH ITEMS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B1740"/>
          </a:solidFill>
          <a:ln w="12700">
            <a:solidFill>
              <a:srgbClr val="0B174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2400" b="1" dirty="0">
                <a:solidFill>
                  <a:srgbClr val="0B1740"/>
                </a:solidFill>
                <a:latin typeface="Calibri" pitchFamily="34" charset="0"/>
                <a:ea typeface="Calibri" pitchFamily="34" charset="-122"/>
                <a:cs typeface="Calibri" pitchFamily="34" charset="-120"/>
              </a:rPr>
              <a:t>Role 1: Full Stack Engineer — Security Strengths</a:t>
            </a:r>
            <a:endParaRPr lang="en-US" sz="2400" dirty="0"/>
          </a:p>
        </p:txBody>
      </p:sp>
      <p:sp>
        <p:nvSpPr>
          <p:cNvPr id="4" name="Text 2"/>
          <p:cNvSpPr/>
          <p:nvPr/>
        </p:nvSpPr>
        <p:spPr>
          <a:xfrm>
            <a:off x="457200" y="713232"/>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10 confirmed security controls already in place</a:t>
            </a:r>
            <a:endParaRPr lang="en-US" sz="1100" dirty="0"/>
          </a:p>
        </p:txBody>
      </p:sp>
      <p:sp>
        <p:nvSpPr>
          <p:cNvPr id="5" name="Shape 3"/>
          <p:cNvSpPr/>
          <p:nvPr/>
        </p:nvSpPr>
        <p:spPr>
          <a:xfrm>
            <a:off x="0" y="5047488"/>
            <a:ext cx="9144000" cy="91440"/>
          </a:xfrm>
          <a:prstGeom prst="rect">
            <a:avLst/>
          </a:prstGeom>
          <a:solidFill>
            <a:srgbClr val="0B1740"/>
          </a:solidFill>
          <a:ln w="12700">
            <a:solidFill>
              <a:srgbClr val="0B1740"/>
            </a:solidFill>
            <a:prstDash val="solid"/>
          </a:ln>
        </p:spPr>
      </p:sp>
      <p:sp>
        <p:nvSpPr>
          <p:cNvPr id="6" name="Shape 4"/>
          <p:cNvSpPr/>
          <p:nvPr/>
        </p:nvSpPr>
        <p:spPr>
          <a:xfrm>
            <a:off x="320040" y="1115568"/>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320040" y="1115568"/>
            <a:ext cx="54864" cy="658368"/>
          </a:xfrm>
          <a:prstGeom prst="rect">
            <a:avLst/>
          </a:prstGeom>
          <a:solidFill>
            <a:srgbClr val="1A8C5B"/>
          </a:solidFill>
          <a:ln w="12700">
            <a:solidFill>
              <a:srgbClr val="1A8C5B"/>
            </a:solidFill>
            <a:prstDash val="solid"/>
          </a:ln>
        </p:spPr>
      </p:sp>
      <p:pic>
        <p:nvPicPr>
          <p:cNvPr id="8" name="Image 0" descr="preencoded.png">    </p:cNvPr>
          <p:cNvPicPr>
            <a:picLocks noChangeAspect="1"/>
          </p:cNvPicPr>
          <p:nvPr/>
        </p:nvPicPr>
        <p:blipFill>
          <a:blip r:embed="rId1"/>
          <a:stretch>
            <a:fillRect/>
          </a:stretch>
        </p:blipFill>
        <p:spPr>
          <a:xfrm>
            <a:off x="429768" y="1243584"/>
            <a:ext cx="329184" cy="329184"/>
          </a:xfrm>
          <a:prstGeom prst="rect">
            <a:avLst/>
          </a:prstGeom>
        </p:spPr>
      </p:pic>
      <p:sp>
        <p:nvSpPr>
          <p:cNvPr id="9" name="Text 6"/>
          <p:cNvSpPr/>
          <p:nvPr/>
        </p:nvSpPr>
        <p:spPr>
          <a:xfrm>
            <a:off x="850392" y="1188720"/>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Clerk v7 — JWT + MFA identity management, sessions revocable server-side</a:t>
            </a:r>
            <a:endParaRPr lang="en-US" sz="1050" dirty="0"/>
          </a:p>
        </p:txBody>
      </p:sp>
      <p:sp>
        <p:nvSpPr>
          <p:cNvPr id="10" name="Shape 7"/>
          <p:cNvSpPr/>
          <p:nvPr/>
        </p:nvSpPr>
        <p:spPr>
          <a:xfrm>
            <a:off x="320040" y="1865376"/>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1" name="Shape 8"/>
          <p:cNvSpPr/>
          <p:nvPr/>
        </p:nvSpPr>
        <p:spPr>
          <a:xfrm>
            <a:off x="320040" y="1865376"/>
            <a:ext cx="54864" cy="658368"/>
          </a:xfrm>
          <a:prstGeom prst="rect">
            <a:avLst/>
          </a:prstGeom>
          <a:solidFill>
            <a:srgbClr val="1A8C5B"/>
          </a:solidFill>
          <a:ln w="12700">
            <a:solidFill>
              <a:srgbClr val="1A8C5B"/>
            </a:solidFill>
            <a:prstDash val="solid"/>
          </a:ln>
        </p:spPr>
      </p:sp>
      <p:pic>
        <p:nvPicPr>
          <p:cNvPr id="12" name="Image 1" descr="preencoded.png">    </p:cNvPr>
          <p:cNvPicPr>
            <a:picLocks noChangeAspect="1"/>
          </p:cNvPicPr>
          <p:nvPr/>
        </p:nvPicPr>
        <p:blipFill>
          <a:blip r:embed="rId2"/>
          <a:stretch>
            <a:fillRect/>
          </a:stretch>
        </p:blipFill>
        <p:spPr>
          <a:xfrm>
            <a:off x="429768" y="1993392"/>
            <a:ext cx="329184" cy="329184"/>
          </a:xfrm>
          <a:prstGeom prst="rect">
            <a:avLst/>
          </a:prstGeom>
        </p:spPr>
      </p:pic>
      <p:sp>
        <p:nvSpPr>
          <p:cNvPr id="13" name="Text 9"/>
          <p:cNvSpPr/>
          <p:nvPr/>
        </p:nvSpPr>
        <p:spPr>
          <a:xfrm>
            <a:off x="850392" y="1938528"/>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All protected API routes call requireAuthenticatedUser() or requireTier() server-side</a:t>
            </a:r>
            <a:endParaRPr lang="en-US" sz="1050" dirty="0"/>
          </a:p>
        </p:txBody>
      </p:sp>
      <p:sp>
        <p:nvSpPr>
          <p:cNvPr id="14" name="Shape 10"/>
          <p:cNvSpPr/>
          <p:nvPr/>
        </p:nvSpPr>
        <p:spPr>
          <a:xfrm>
            <a:off x="320040" y="2615184"/>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5" name="Shape 11"/>
          <p:cNvSpPr/>
          <p:nvPr/>
        </p:nvSpPr>
        <p:spPr>
          <a:xfrm>
            <a:off x="320040" y="2615184"/>
            <a:ext cx="54864" cy="658368"/>
          </a:xfrm>
          <a:prstGeom prst="rect">
            <a:avLst/>
          </a:prstGeom>
          <a:solidFill>
            <a:srgbClr val="1A8C5B"/>
          </a:solidFill>
          <a:ln w="12700">
            <a:solidFill>
              <a:srgbClr val="1A8C5B"/>
            </a:solidFill>
            <a:prstDash val="solid"/>
          </a:ln>
        </p:spPr>
      </p:sp>
      <p:pic>
        <p:nvPicPr>
          <p:cNvPr id="16" name="Image 2" descr="preencoded.png">    </p:cNvPr>
          <p:cNvPicPr>
            <a:picLocks noChangeAspect="1"/>
          </p:cNvPicPr>
          <p:nvPr/>
        </p:nvPicPr>
        <p:blipFill>
          <a:blip r:embed="rId3"/>
          <a:stretch>
            <a:fillRect/>
          </a:stretch>
        </p:blipFill>
        <p:spPr>
          <a:xfrm>
            <a:off x="429768" y="2743200"/>
            <a:ext cx="329184" cy="329184"/>
          </a:xfrm>
          <a:prstGeom prst="rect">
            <a:avLst/>
          </a:prstGeom>
        </p:spPr>
      </p:pic>
      <p:sp>
        <p:nvSpPr>
          <p:cNvPr id="17" name="Text 12"/>
          <p:cNvSpPr/>
          <p:nvPr/>
        </p:nvSpPr>
        <p:spPr>
          <a:xfrm>
            <a:off x="850392" y="2688336"/>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Per-user rate limits enforced on AI advisor, portfolio, OCR, and market data</a:t>
            </a:r>
            <a:endParaRPr lang="en-US" sz="1050" dirty="0"/>
          </a:p>
        </p:txBody>
      </p:sp>
      <p:sp>
        <p:nvSpPr>
          <p:cNvPr id="18" name="Shape 13"/>
          <p:cNvSpPr/>
          <p:nvPr/>
        </p:nvSpPr>
        <p:spPr>
          <a:xfrm>
            <a:off x="320040" y="3364992"/>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9" name="Shape 14"/>
          <p:cNvSpPr/>
          <p:nvPr/>
        </p:nvSpPr>
        <p:spPr>
          <a:xfrm>
            <a:off x="320040" y="3364992"/>
            <a:ext cx="54864" cy="658368"/>
          </a:xfrm>
          <a:prstGeom prst="rect">
            <a:avLst/>
          </a:prstGeom>
          <a:solidFill>
            <a:srgbClr val="1A8C5B"/>
          </a:solidFill>
          <a:ln w="12700">
            <a:solidFill>
              <a:srgbClr val="1A8C5B"/>
            </a:solidFill>
            <a:prstDash val="solid"/>
          </a:ln>
        </p:spPr>
      </p:sp>
      <p:pic>
        <p:nvPicPr>
          <p:cNvPr id="20" name="Image 3" descr="preencoded.png">    </p:cNvPr>
          <p:cNvPicPr>
            <a:picLocks noChangeAspect="1"/>
          </p:cNvPicPr>
          <p:nvPr/>
        </p:nvPicPr>
        <p:blipFill>
          <a:blip r:embed="rId4"/>
          <a:stretch>
            <a:fillRect/>
          </a:stretch>
        </p:blipFill>
        <p:spPr>
          <a:xfrm>
            <a:off x="429768" y="3493008"/>
            <a:ext cx="329184" cy="329184"/>
          </a:xfrm>
          <a:prstGeom prst="rect">
            <a:avLst/>
          </a:prstGeom>
        </p:spPr>
      </p:pic>
      <p:sp>
        <p:nvSpPr>
          <p:cNvPr id="21" name="Text 15"/>
          <p:cNvSpPr/>
          <p:nvPr/>
        </p:nvSpPr>
        <p:spPr>
          <a:xfrm>
            <a:off x="850392" y="3438144"/>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Comprehensive CSP headers: default-src, frame-ancestors none, upgrade-insecure-requests</a:t>
            </a:r>
            <a:endParaRPr lang="en-US" sz="1050" dirty="0"/>
          </a:p>
        </p:txBody>
      </p:sp>
      <p:sp>
        <p:nvSpPr>
          <p:cNvPr id="22" name="Shape 16"/>
          <p:cNvSpPr/>
          <p:nvPr/>
        </p:nvSpPr>
        <p:spPr>
          <a:xfrm>
            <a:off x="320040" y="4114800"/>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3" name="Shape 17"/>
          <p:cNvSpPr/>
          <p:nvPr/>
        </p:nvSpPr>
        <p:spPr>
          <a:xfrm>
            <a:off x="320040" y="4114800"/>
            <a:ext cx="54864" cy="658368"/>
          </a:xfrm>
          <a:prstGeom prst="rect">
            <a:avLst/>
          </a:prstGeom>
          <a:solidFill>
            <a:srgbClr val="1A8C5B"/>
          </a:solidFill>
          <a:ln w="12700">
            <a:solidFill>
              <a:srgbClr val="1A8C5B"/>
            </a:solidFill>
            <a:prstDash val="solid"/>
          </a:ln>
        </p:spPr>
      </p:sp>
      <p:pic>
        <p:nvPicPr>
          <p:cNvPr id="24" name="Image 4" descr="preencoded.png">    </p:cNvPr>
          <p:cNvPicPr>
            <a:picLocks noChangeAspect="1"/>
          </p:cNvPicPr>
          <p:nvPr/>
        </p:nvPicPr>
        <p:blipFill>
          <a:blip r:embed="rId5"/>
          <a:stretch>
            <a:fillRect/>
          </a:stretch>
        </p:blipFill>
        <p:spPr>
          <a:xfrm>
            <a:off x="429768" y="4242816"/>
            <a:ext cx="329184" cy="329184"/>
          </a:xfrm>
          <a:prstGeom prst="rect">
            <a:avLst/>
          </a:prstGeom>
        </p:spPr>
      </p:pic>
      <p:sp>
        <p:nvSpPr>
          <p:cNvPr id="25" name="Text 18"/>
          <p:cNvSpPr/>
          <p:nvPr/>
        </p:nvSpPr>
        <p:spPr>
          <a:xfrm>
            <a:off x="850392" y="4187952"/>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HSTS enabled: Strict-Transport-Security max-age=31536000 includeSubDomains</a:t>
            </a:r>
            <a:endParaRPr lang="en-US" sz="1050" dirty="0"/>
          </a:p>
        </p:txBody>
      </p:sp>
      <p:sp>
        <p:nvSpPr>
          <p:cNvPr id="26" name="Shape 19"/>
          <p:cNvSpPr/>
          <p:nvPr/>
        </p:nvSpPr>
        <p:spPr>
          <a:xfrm>
            <a:off x="4754880" y="1115568"/>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7" name="Shape 20"/>
          <p:cNvSpPr/>
          <p:nvPr/>
        </p:nvSpPr>
        <p:spPr>
          <a:xfrm>
            <a:off x="4754880" y="1115568"/>
            <a:ext cx="54864" cy="658368"/>
          </a:xfrm>
          <a:prstGeom prst="rect">
            <a:avLst/>
          </a:prstGeom>
          <a:solidFill>
            <a:srgbClr val="1A8C5B"/>
          </a:solidFill>
          <a:ln w="12700">
            <a:solidFill>
              <a:srgbClr val="1A8C5B"/>
            </a:solidFill>
            <a:prstDash val="solid"/>
          </a:ln>
        </p:spPr>
      </p:sp>
      <p:pic>
        <p:nvPicPr>
          <p:cNvPr id="28" name="Image 5" descr="preencoded.png">    </p:cNvPr>
          <p:cNvPicPr>
            <a:picLocks noChangeAspect="1"/>
          </p:cNvPicPr>
          <p:nvPr/>
        </p:nvPicPr>
        <p:blipFill>
          <a:blip r:embed="rId6"/>
          <a:stretch>
            <a:fillRect/>
          </a:stretch>
        </p:blipFill>
        <p:spPr>
          <a:xfrm>
            <a:off x="4864608" y="1243584"/>
            <a:ext cx="329184" cy="329184"/>
          </a:xfrm>
          <a:prstGeom prst="rect">
            <a:avLst/>
          </a:prstGeom>
        </p:spPr>
      </p:pic>
      <p:sp>
        <p:nvSpPr>
          <p:cNvPr id="29" name="Text 21"/>
          <p:cNvSpPr/>
          <p:nvPr/>
        </p:nvSpPr>
        <p:spPr>
          <a:xfrm>
            <a:off x="5285232" y="1188720"/>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Anti-clickjacking: X-Frame-Options DENY + CSP frame-ancestors none</a:t>
            </a:r>
            <a:endParaRPr lang="en-US" sz="1050" dirty="0"/>
          </a:p>
        </p:txBody>
      </p:sp>
      <p:sp>
        <p:nvSpPr>
          <p:cNvPr id="30" name="Shape 22"/>
          <p:cNvSpPr/>
          <p:nvPr/>
        </p:nvSpPr>
        <p:spPr>
          <a:xfrm>
            <a:off x="4754880" y="1865376"/>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31" name="Shape 23"/>
          <p:cNvSpPr/>
          <p:nvPr/>
        </p:nvSpPr>
        <p:spPr>
          <a:xfrm>
            <a:off x="4754880" y="1865376"/>
            <a:ext cx="54864" cy="658368"/>
          </a:xfrm>
          <a:prstGeom prst="rect">
            <a:avLst/>
          </a:prstGeom>
          <a:solidFill>
            <a:srgbClr val="1A8C5B"/>
          </a:solidFill>
          <a:ln w="12700">
            <a:solidFill>
              <a:srgbClr val="1A8C5B"/>
            </a:solidFill>
            <a:prstDash val="solid"/>
          </a:ln>
        </p:spPr>
      </p:sp>
      <p:pic>
        <p:nvPicPr>
          <p:cNvPr id="32" name="Image 6" descr="preencoded.png">    </p:cNvPr>
          <p:cNvPicPr>
            <a:picLocks noChangeAspect="1"/>
          </p:cNvPicPr>
          <p:nvPr/>
        </p:nvPicPr>
        <p:blipFill>
          <a:blip r:embed="rId7"/>
          <a:stretch>
            <a:fillRect/>
          </a:stretch>
        </p:blipFill>
        <p:spPr>
          <a:xfrm>
            <a:off x="4864608" y="1993392"/>
            <a:ext cx="329184" cy="329184"/>
          </a:xfrm>
          <a:prstGeom prst="rect">
            <a:avLst/>
          </a:prstGeom>
        </p:spPr>
      </p:pic>
      <p:sp>
        <p:nvSpPr>
          <p:cNvPr id="33" name="Text 24"/>
          <p:cNvSpPr/>
          <p:nvPr/>
        </p:nvSpPr>
        <p:spPr>
          <a:xfrm>
            <a:off x="5285232" y="1938528"/>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Prompt injection defense in ai-safety.ts applied to every user message</a:t>
            </a:r>
            <a:endParaRPr lang="en-US" sz="1050" dirty="0"/>
          </a:p>
        </p:txBody>
      </p:sp>
      <p:sp>
        <p:nvSpPr>
          <p:cNvPr id="34" name="Shape 25"/>
          <p:cNvSpPr/>
          <p:nvPr/>
        </p:nvSpPr>
        <p:spPr>
          <a:xfrm>
            <a:off x="4754880" y="2615184"/>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35" name="Shape 26"/>
          <p:cNvSpPr/>
          <p:nvPr/>
        </p:nvSpPr>
        <p:spPr>
          <a:xfrm>
            <a:off x="4754880" y="2615184"/>
            <a:ext cx="54864" cy="658368"/>
          </a:xfrm>
          <a:prstGeom prst="rect">
            <a:avLst/>
          </a:prstGeom>
          <a:solidFill>
            <a:srgbClr val="1A8C5B"/>
          </a:solidFill>
          <a:ln w="12700">
            <a:solidFill>
              <a:srgbClr val="1A8C5B"/>
            </a:solidFill>
            <a:prstDash val="solid"/>
          </a:ln>
        </p:spPr>
      </p:sp>
      <p:pic>
        <p:nvPicPr>
          <p:cNvPr id="36" name="Image 7" descr="preencoded.png">    </p:cNvPr>
          <p:cNvPicPr>
            <a:picLocks noChangeAspect="1"/>
          </p:cNvPicPr>
          <p:nvPr/>
        </p:nvPicPr>
        <p:blipFill>
          <a:blip r:embed="rId8"/>
          <a:stretch>
            <a:fillRect/>
          </a:stretch>
        </p:blipFill>
        <p:spPr>
          <a:xfrm>
            <a:off x="4864608" y="2743200"/>
            <a:ext cx="329184" cy="329184"/>
          </a:xfrm>
          <a:prstGeom prst="rect">
            <a:avLst/>
          </a:prstGeom>
        </p:spPr>
      </p:pic>
      <p:sp>
        <p:nvSpPr>
          <p:cNvPr id="37" name="Text 27"/>
          <p:cNvSpPr/>
          <p:nvPr/>
        </p:nvSpPr>
        <p:spPr>
          <a:xfrm>
            <a:off x="5285232" y="2688336"/>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Receipt upload: magic byte validation + sharp re-encoding to strip metadata</a:t>
            </a:r>
            <a:endParaRPr lang="en-US" sz="1050" dirty="0"/>
          </a:p>
        </p:txBody>
      </p:sp>
      <p:sp>
        <p:nvSpPr>
          <p:cNvPr id="38" name="Shape 28"/>
          <p:cNvSpPr/>
          <p:nvPr/>
        </p:nvSpPr>
        <p:spPr>
          <a:xfrm>
            <a:off x="4754880" y="3364992"/>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39" name="Shape 29"/>
          <p:cNvSpPr/>
          <p:nvPr/>
        </p:nvSpPr>
        <p:spPr>
          <a:xfrm>
            <a:off x="4754880" y="3364992"/>
            <a:ext cx="54864" cy="658368"/>
          </a:xfrm>
          <a:prstGeom prst="rect">
            <a:avLst/>
          </a:prstGeom>
          <a:solidFill>
            <a:srgbClr val="1A8C5B"/>
          </a:solidFill>
          <a:ln w="12700">
            <a:solidFill>
              <a:srgbClr val="1A8C5B"/>
            </a:solidFill>
            <a:prstDash val="solid"/>
          </a:ln>
        </p:spPr>
      </p:sp>
      <p:pic>
        <p:nvPicPr>
          <p:cNvPr id="40" name="Image 8" descr="preencoded.png">    </p:cNvPr>
          <p:cNvPicPr>
            <a:picLocks noChangeAspect="1"/>
          </p:cNvPicPr>
          <p:nvPr/>
        </p:nvPicPr>
        <p:blipFill>
          <a:blip r:embed="rId9"/>
          <a:stretch>
            <a:fillRect/>
          </a:stretch>
        </p:blipFill>
        <p:spPr>
          <a:xfrm>
            <a:off x="4864608" y="3493008"/>
            <a:ext cx="329184" cy="329184"/>
          </a:xfrm>
          <a:prstGeom prst="rect">
            <a:avLst/>
          </a:prstGeom>
        </p:spPr>
      </p:pic>
      <p:sp>
        <p:nvSpPr>
          <p:cNvPr id="41" name="Text 30"/>
          <p:cNvSpPr/>
          <p:nvPr/>
        </p:nvSpPr>
        <p:spPr>
          <a:xfrm>
            <a:off x="5285232" y="3438144"/>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D1 database: all queries use parameterized bindings — SQL injection prevented</a:t>
            </a:r>
            <a:endParaRPr lang="en-US" sz="1050" dirty="0"/>
          </a:p>
        </p:txBody>
      </p:sp>
      <p:sp>
        <p:nvSpPr>
          <p:cNvPr id="42" name="Shape 31"/>
          <p:cNvSpPr/>
          <p:nvPr/>
        </p:nvSpPr>
        <p:spPr>
          <a:xfrm>
            <a:off x="4754880" y="4114800"/>
            <a:ext cx="4206240" cy="6583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43" name="Shape 32"/>
          <p:cNvSpPr/>
          <p:nvPr/>
        </p:nvSpPr>
        <p:spPr>
          <a:xfrm>
            <a:off x="4754880" y="4114800"/>
            <a:ext cx="54864" cy="658368"/>
          </a:xfrm>
          <a:prstGeom prst="rect">
            <a:avLst/>
          </a:prstGeom>
          <a:solidFill>
            <a:srgbClr val="1A8C5B"/>
          </a:solidFill>
          <a:ln w="12700">
            <a:solidFill>
              <a:srgbClr val="1A8C5B"/>
            </a:solidFill>
            <a:prstDash val="solid"/>
          </a:ln>
        </p:spPr>
      </p:sp>
      <p:pic>
        <p:nvPicPr>
          <p:cNvPr id="44" name="Image 9" descr="preencoded.png">    </p:cNvPr>
          <p:cNvPicPr>
            <a:picLocks noChangeAspect="1"/>
          </p:cNvPicPr>
          <p:nvPr/>
        </p:nvPicPr>
        <p:blipFill>
          <a:blip r:embed="rId10"/>
          <a:stretch>
            <a:fillRect/>
          </a:stretch>
        </p:blipFill>
        <p:spPr>
          <a:xfrm>
            <a:off x="4864608" y="4242816"/>
            <a:ext cx="329184" cy="329184"/>
          </a:xfrm>
          <a:prstGeom prst="rect">
            <a:avLst/>
          </a:prstGeom>
        </p:spPr>
      </p:pic>
      <p:sp>
        <p:nvSpPr>
          <p:cNvPr id="45" name="Text 33"/>
          <p:cNvSpPr/>
          <p:nvPr/>
        </p:nvSpPr>
        <p:spPr>
          <a:xfrm>
            <a:off x="5285232" y="4187952"/>
            <a:ext cx="3566160" cy="530352"/>
          </a:xfrm>
          <a:prstGeom prst="rect">
            <a:avLst/>
          </a:prstGeom>
          <a:noFill/>
          <a:ln/>
        </p:spPr>
        <p:txBody>
          <a:bodyPr wrap="square" lIns="0" tIns="0" rIns="0" bIns="0" rtlCol="0" anchor="ctr"/>
          <a:lstStyle/>
          <a:p>
            <a:pPr indent="0" marL="0">
              <a:buNone/>
            </a:pPr>
            <a:r>
              <a:rPr lang="en-US" sz="1050" dirty="0">
                <a:solidFill>
                  <a:srgbClr val="0B1740"/>
                </a:solidFill>
                <a:latin typeface="Calibri" pitchFamily="34" charset="0"/>
                <a:ea typeface="Calibri" pitchFamily="34" charset="-122"/>
                <a:cs typeface="Calibri" pitchFamily="34" charset="-120"/>
              </a:rPr>
              <a:t>Arabic numeral normalization, currency whitelist, amount range cap on OCR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B1740"/>
          </a:solidFill>
          <a:ln w="12700">
            <a:solidFill>
              <a:srgbClr val="0B174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2400" b="1" dirty="0">
                <a:solidFill>
                  <a:srgbClr val="0B1740"/>
                </a:solidFill>
                <a:latin typeface="Calibri" pitchFamily="34" charset="0"/>
                <a:ea typeface="Calibri" pitchFamily="34" charset="-122"/>
                <a:cs typeface="Calibri" pitchFamily="34" charset="-120"/>
              </a:rPr>
              <a:t>Role 1: Full Stack Engineer — Critical Findings</a:t>
            </a:r>
            <a:endParaRPr lang="en-US" sz="2400" dirty="0"/>
          </a:p>
        </p:txBody>
      </p:sp>
      <p:sp>
        <p:nvSpPr>
          <p:cNvPr id="4" name="Text 2"/>
          <p:cNvSpPr/>
          <p:nvPr/>
        </p:nvSpPr>
        <p:spPr>
          <a:xfrm>
            <a:off x="457200" y="713232"/>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Issues requiring remediation before and after launch</a:t>
            </a:r>
            <a:endParaRPr lang="en-US" sz="1100" dirty="0"/>
          </a:p>
        </p:txBody>
      </p:sp>
      <p:sp>
        <p:nvSpPr>
          <p:cNvPr id="5" name="Shape 3"/>
          <p:cNvSpPr/>
          <p:nvPr/>
        </p:nvSpPr>
        <p:spPr>
          <a:xfrm>
            <a:off x="0" y="5047488"/>
            <a:ext cx="9144000" cy="91440"/>
          </a:xfrm>
          <a:prstGeom prst="rect">
            <a:avLst/>
          </a:prstGeom>
          <a:solidFill>
            <a:srgbClr val="0B1740"/>
          </a:solidFill>
          <a:ln w="12700">
            <a:solidFill>
              <a:srgbClr val="0B1740"/>
            </a:solidFill>
            <a:prstDash val="solid"/>
          </a:ln>
        </p:spPr>
      </p:sp>
      <p:sp>
        <p:nvSpPr>
          <p:cNvPr id="6" name="Shape 4"/>
          <p:cNvSpPr/>
          <p:nvPr/>
        </p:nvSpPr>
        <p:spPr>
          <a:xfrm>
            <a:off x="320040" y="1097280"/>
            <a:ext cx="4206240" cy="11155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320040" y="1097280"/>
            <a:ext cx="54864" cy="1115568"/>
          </a:xfrm>
          <a:prstGeom prst="rect">
            <a:avLst/>
          </a:prstGeom>
          <a:solidFill>
            <a:srgbClr val="D93025"/>
          </a:solidFill>
          <a:ln w="12700">
            <a:solidFill>
              <a:srgbClr val="D93025"/>
            </a:solidFill>
            <a:prstDash val="solid"/>
          </a:ln>
        </p:spPr>
      </p:sp>
      <p:sp>
        <p:nvSpPr>
          <p:cNvPr id="8" name="Shape 6"/>
          <p:cNvSpPr/>
          <p:nvPr/>
        </p:nvSpPr>
        <p:spPr>
          <a:xfrm>
            <a:off x="457200" y="1188720"/>
            <a:ext cx="960120" cy="201168"/>
          </a:xfrm>
          <a:prstGeom prst="rect">
            <a:avLst>
              <a:gd name="adj" fmla="val 18182"/>
            </a:avLst>
          </a:prstGeom>
          <a:solidFill>
            <a:srgbClr val="D93025"/>
          </a:solidFill>
          <a:ln w="12700">
            <a:solidFill>
              <a:srgbClr val="D93025"/>
            </a:solidFill>
            <a:prstDash val="solid"/>
          </a:ln>
        </p:spPr>
      </p:sp>
      <p:sp>
        <p:nvSpPr>
          <p:cNvPr id="9" name="Text 7"/>
          <p:cNvSpPr/>
          <p:nvPr/>
        </p:nvSpPr>
        <p:spPr>
          <a:xfrm>
            <a:off x="457200" y="1188720"/>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0" name="Text 8"/>
          <p:cNvSpPr/>
          <p:nvPr/>
        </p:nvSpPr>
        <p:spPr>
          <a:xfrm>
            <a:off x="1508760" y="1179576"/>
            <a:ext cx="64008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F-01</a:t>
            </a:r>
            <a:endParaRPr lang="en-US" sz="950" dirty="0"/>
          </a:p>
        </p:txBody>
      </p:sp>
      <p:sp>
        <p:nvSpPr>
          <p:cNvPr id="11" name="Text 9"/>
          <p:cNvSpPr/>
          <p:nvPr/>
        </p:nvSpPr>
        <p:spPr>
          <a:xfrm>
            <a:off x="457200" y="1417320"/>
            <a:ext cx="3977640" cy="274320"/>
          </a:xfrm>
          <a:prstGeom prst="rect">
            <a:avLst/>
          </a:prstGeom>
          <a:noFill/>
          <a:ln/>
        </p:spPr>
        <p:txBody>
          <a:bodyPr wrap="square" lIns="0" tIns="0" rIns="0" bIns="0" rtlCol="0" anchor="ctr"/>
          <a:lstStyle/>
          <a:p>
            <a:pPr indent="0" marL="0">
              <a:buNone/>
            </a:pPr>
            <a:r>
              <a:rPr lang="en-US" sz="1150" b="1" dirty="0">
                <a:solidFill>
                  <a:srgbClr val="0B1740"/>
                </a:solidFill>
                <a:latin typeface="Calibri" pitchFamily="34" charset="0"/>
                <a:ea typeface="Calibri" pitchFamily="34" charset="-122"/>
                <a:cs typeface="Calibri" pitchFamily="34" charset="-120"/>
              </a:rPr>
              <a:t>In-Memory Rate Limiter — Not Safe on Cloudflare Workers Edge</a:t>
            </a:r>
            <a:endParaRPr lang="en-US" sz="1150" dirty="0"/>
          </a:p>
        </p:txBody>
      </p:sp>
      <p:sp>
        <p:nvSpPr>
          <p:cNvPr id="12" name="Text 10"/>
          <p:cNvSpPr/>
          <p:nvPr/>
        </p:nvSpPr>
        <p:spPr>
          <a:xfrm>
            <a:off x="457200" y="1691640"/>
            <a:ext cx="39776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rate-limit.ts uses a module-level Map that resets per isolate. Two concurrent requests hitting different edge nodes bypass the 20 req/hour AI limit entirely. Must be replaced with Cloudflare KV or D1-backed counters.</a:t>
            </a:r>
            <a:endParaRPr lang="en-US" sz="950" dirty="0"/>
          </a:p>
        </p:txBody>
      </p:sp>
      <p:sp>
        <p:nvSpPr>
          <p:cNvPr id="13" name="Shape 11"/>
          <p:cNvSpPr/>
          <p:nvPr/>
        </p:nvSpPr>
        <p:spPr>
          <a:xfrm>
            <a:off x="320040" y="2331720"/>
            <a:ext cx="4206240" cy="11155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320040" y="2331720"/>
            <a:ext cx="54864" cy="1115568"/>
          </a:xfrm>
          <a:prstGeom prst="rect">
            <a:avLst/>
          </a:prstGeom>
          <a:solidFill>
            <a:srgbClr val="E88A1A"/>
          </a:solidFill>
          <a:ln w="12700">
            <a:solidFill>
              <a:srgbClr val="E88A1A"/>
            </a:solidFill>
            <a:prstDash val="solid"/>
          </a:ln>
        </p:spPr>
      </p:sp>
      <p:sp>
        <p:nvSpPr>
          <p:cNvPr id="15" name="Shape 13"/>
          <p:cNvSpPr/>
          <p:nvPr/>
        </p:nvSpPr>
        <p:spPr>
          <a:xfrm>
            <a:off x="457200" y="2423160"/>
            <a:ext cx="960120" cy="201168"/>
          </a:xfrm>
          <a:prstGeom prst="rect">
            <a:avLst>
              <a:gd name="adj" fmla="val 18182"/>
            </a:avLst>
          </a:prstGeom>
          <a:solidFill>
            <a:srgbClr val="E88A1A"/>
          </a:solidFill>
          <a:ln w="12700">
            <a:solidFill>
              <a:srgbClr val="E88A1A"/>
            </a:solidFill>
            <a:prstDash val="solid"/>
          </a:ln>
        </p:spPr>
      </p:sp>
      <p:sp>
        <p:nvSpPr>
          <p:cNvPr id="16" name="Text 14"/>
          <p:cNvSpPr/>
          <p:nvPr/>
        </p:nvSpPr>
        <p:spPr>
          <a:xfrm>
            <a:off x="457200" y="2423160"/>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7" name="Text 15"/>
          <p:cNvSpPr/>
          <p:nvPr/>
        </p:nvSpPr>
        <p:spPr>
          <a:xfrm>
            <a:off x="1508760" y="2414016"/>
            <a:ext cx="64008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F-02</a:t>
            </a:r>
            <a:endParaRPr lang="en-US" sz="950" dirty="0"/>
          </a:p>
        </p:txBody>
      </p:sp>
      <p:sp>
        <p:nvSpPr>
          <p:cNvPr id="18" name="Text 16"/>
          <p:cNvSpPr/>
          <p:nvPr/>
        </p:nvSpPr>
        <p:spPr>
          <a:xfrm>
            <a:off x="457200" y="2651760"/>
            <a:ext cx="3977640" cy="274320"/>
          </a:xfrm>
          <a:prstGeom prst="rect">
            <a:avLst/>
          </a:prstGeom>
          <a:noFill/>
          <a:ln/>
        </p:spPr>
        <p:txBody>
          <a:bodyPr wrap="square" lIns="0" tIns="0" rIns="0" bIns="0" rtlCol="0" anchor="ctr"/>
          <a:lstStyle/>
          <a:p>
            <a:pPr indent="0" marL="0">
              <a:buNone/>
            </a:pPr>
            <a:r>
              <a:rPr lang="en-US" sz="1150" b="1" dirty="0">
                <a:solidFill>
                  <a:srgbClr val="0B1740"/>
                </a:solidFill>
                <a:latin typeface="Calibri" pitchFamily="34" charset="0"/>
                <a:ea typeface="Calibri" pitchFamily="34" charset="-122"/>
                <a:cs typeface="Calibri" pitchFamily="34" charset="-120"/>
              </a:rPr>
              <a:t>Workspace PUT — No Schema Validation Before D1 Write</a:t>
            </a:r>
            <a:endParaRPr lang="en-US" sz="1150" dirty="0"/>
          </a:p>
        </p:txBody>
      </p:sp>
      <p:sp>
        <p:nvSpPr>
          <p:cNvPr id="19" name="Text 17"/>
          <p:cNvSpPr/>
          <p:nvPr/>
        </p:nvSpPr>
        <p:spPr>
          <a:xfrm>
            <a:off x="457200" y="2926080"/>
            <a:ext cx="39776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user-data PUT casts body?.workspace directly to RemoteUserWorkspace without Zod. A malicious user can persist arbitrary JSON that is later injected verbatim into the AI system prompt via safeJsonBlock(userContext).</a:t>
            </a:r>
            <a:endParaRPr lang="en-US" sz="950" dirty="0"/>
          </a:p>
        </p:txBody>
      </p:sp>
      <p:sp>
        <p:nvSpPr>
          <p:cNvPr id="20" name="Shape 18"/>
          <p:cNvSpPr/>
          <p:nvPr/>
        </p:nvSpPr>
        <p:spPr>
          <a:xfrm>
            <a:off x="4709160" y="1097280"/>
            <a:ext cx="4206240" cy="11155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4709160" y="1097280"/>
            <a:ext cx="54864" cy="1115568"/>
          </a:xfrm>
          <a:prstGeom prst="rect">
            <a:avLst/>
          </a:prstGeom>
          <a:solidFill>
            <a:srgbClr val="E88A1A"/>
          </a:solidFill>
          <a:ln w="12700">
            <a:solidFill>
              <a:srgbClr val="E88A1A"/>
            </a:solidFill>
            <a:prstDash val="solid"/>
          </a:ln>
        </p:spPr>
      </p:sp>
      <p:sp>
        <p:nvSpPr>
          <p:cNvPr id="22" name="Shape 20"/>
          <p:cNvSpPr/>
          <p:nvPr/>
        </p:nvSpPr>
        <p:spPr>
          <a:xfrm>
            <a:off x="4846320" y="1188720"/>
            <a:ext cx="960120" cy="201168"/>
          </a:xfrm>
          <a:prstGeom prst="rect">
            <a:avLst>
              <a:gd name="adj" fmla="val 18182"/>
            </a:avLst>
          </a:prstGeom>
          <a:solidFill>
            <a:srgbClr val="E88A1A"/>
          </a:solidFill>
          <a:ln w="12700">
            <a:solidFill>
              <a:srgbClr val="E88A1A"/>
            </a:solidFill>
            <a:prstDash val="solid"/>
          </a:ln>
        </p:spPr>
      </p:sp>
      <p:sp>
        <p:nvSpPr>
          <p:cNvPr id="23" name="Text 21"/>
          <p:cNvSpPr/>
          <p:nvPr/>
        </p:nvSpPr>
        <p:spPr>
          <a:xfrm>
            <a:off x="4846320" y="1188720"/>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4" name="Text 22"/>
          <p:cNvSpPr/>
          <p:nvPr/>
        </p:nvSpPr>
        <p:spPr>
          <a:xfrm>
            <a:off x="5897880" y="1179576"/>
            <a:ext cx="64008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F-03</a:t>
            </a:r>
            <a:endParaRPr lang="en-US" sz="950" dirty="0"/>
          </a:p>
        </p:txBody>
      </p:sp>
      <p:sp>
        <p:nvSpPr>
          <p:cNvPr id="25" name="Text 23"/>
          <p:cNvSpPr/>
          <p:nvPr/>
        </p:nvSpPr>
        <p:spPr>
          <a:xfrm>
            <a:off x="4846320" y="1417320"/>
            <a:ext cx="3977640" cy="274320"/>
          </a:xfrm>
          <a:prstGeom prst="rect">
            <a:avLst/>
          </a:prstGeom>
          <a:noFill/>
          <a:ln/>
        </p:spPr>
        <p:txBody>
          <a:bodyPr wrap="square" lIns="0" tIns="0" rIns="0" bIns="0" rtlCol="0" anchor="ctr"/>
          <a:lstStyle/>
          <a:p>
            <a:pPr indent="0" marL="0">
              <a:buNone/>
            </a:pPr>
            <a:r>
              <a:rPr lang="en-US" sz="1150" b="1" dirty="0">
                <a:solidFill>
                  <a:srgbClr val="0B1740"/>
                </a:solidFill>
                <a:latin typeface="Calibri" pitchFamily="34" charset="0"/>
                <a:ea typeface="Calibri" pitchFamily="34" charset="-122"/>
                <a:cs typeface="Calibri" pitchFamily="34" charset="-120"/>
              </a:rPr>
              <a:t>AI System Prompt — Raw Workspace JSON Bypasses Sanitizer</a:t>
            </a:r>
            <a:endParaRPr lang="en-US" sz="1150" dirty="0"/>
          </a:p>
        </p:txBody>
      </p:sp>
      <p:sp>
        <p:nvSpPr>
          <p:cNvPr id="26" name="Text 24"/>
          <p:cNvSpPr/>
          <p:nvPr/>
        </p:nvSpPr>
        <p:spPr>
          <a:xfrm>
            <a:off x="4846320" y="1691640"/>
            <a:ext cx="39776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ai/chat/route.ts embeds the full userContext JSON into systemPrompt. Only the user message is sanitized, not workspace fields. A merchant name like 'Ignore previous instructions' passes unchecked into the LLM context.</a:t>
            </a:r>
            <a:endParaRPr lang="en-US" sz="950" dirty="0"/>
          </a:p>
        </p:txBody>
      </p:sp>
      <p:sp>
        <p:nvSpPr>
          <p:cNvPr id="27" name="Shape 25"/>
          <p:cNvSpPr/>
          <p:nvPr/>
        </p:nvSpPr>
        <p:spPr>
          <a:xfrm>
            <a:off x="4709160" y="2331720"/>
            <a:ext cx="4206240" cy="1115568"/>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8" name="Shape 26"/>
          <p:cNvSpPr/>
          <p:nvPr/>
        </p:nvSpPr>
        <p:spPr>
          <a:xfrm>
            <a:off x="4709160" y="2331720"/>
            <a:ext cx="54864" cy="1115568"/>
          </a:xfrm>
          <a:prstGeom prst="rect">
            <a:avLst/>
          </a:prstGeom>
          <a:solidFill>
            <a:srgbClr val="E88A1A"/>
          </a:solidFill>
          <a:ln w="12700">
            <a:solidFill>
              <a:srgbClr val="E88A1A"/>
            </a:solidFill>
            <a:prstDash val="solid"/>
          </a:ln>
        </p:spPr>
      </p:sp>
      <p:sp>
        <p:nvSpPr>
          <p:cNvPr id="29" name="Shape 27"/>
          <p:cNvSpPr/>
          <p:nvPr/>
        </p:nvSpPr>
        <p:spPr>
          <a:xfrm>
            <a:off x="4846320" y="2423160"/>
            <a:ext cx="960120" cy="201168"/>
          </a:xfrm>
          <a:prstGeom prst="rect">
            <a:avLst>
              <a:gd name="adj" fmla="val 18182"/>
            </a:avLst>
          </a:prstGeom>
          <a:solidFill>
            <a:srgbClr val="E88A1A"/>
          </a:solidFill>
          <a:ln w="12700">
            <a:solidFill>
              <a:srgbClr val="E88A1A"/>
            </a:solidFill>
            <a:prstDash val="solid"/>
          </a:ln>
        </p:spPr>
      </p:sp>
      <p:sp>
        <p:nvSpPr>
          <p:cNvPr id="30" name="Text 28"/>
          <p:cNvSpPr/>
          <p:nvPr/>
        </p:nvSpPr>
        <p:spPr>
          <a:xfrm>
            <a:off x="4846320" y="2423160"/>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1" name="Text 29"/>
          <p:cNvSpPr/>
          <p:nvPr/>
        </p:nvSpPr>
        <p:spPr>
          <a:xfrm>
            <a:off x="5897880" y="2414016"/>
            <a:ext cx="64008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F-04</a:t>
            </a:r>
            <a:endParaRPr lang="en-US" sz="950" dirty="0"/>
          </a:p>
        </p:txBody>
      </p:sp>
      <p:sp>
        <p:nvSpPr>
          <p:cNvPr id="32" name="Text 30"/>
          <p:cNvSpPr/>
          <p:nvPr/>
        </p:nvSpPr>
        <p:spPr>
          <a:xfrm>
            <a:off x="4846320" y="2651760"/>
            <a:ext cx="3977640" cy="274320"/>
          </a:xfrm>
          <a:prstGeom prst="rect">
            <a:avLst/>
          </a:prstGeom>
          <a:noFill/>
          <a:ln/>
        </p:spPr>
        <p:txBody>
          <a:bodyPr wrap="square" lIns="0" tIns="0" rIns="0" bIns="0" rtlCol="0" anchor="ctr"/>
          <a:lstStyle/>
          <a:p>
            <a:pPr indent="0" marL="0">
              <a:buNone/>
            </a:pPr>
            <a:r>
              <a:rPr lang="en-US" sz="1150" b="1" dirty="0">
                <a:solidFill>
                  <a:srgbClr val="0B1740"/>
                </a:solidFill>
                <a:latin typeface="Calibri" pitchFamily="34" charset="0"/>
                <a:ea typeface="Calibri" pitchFamily="34" charset="-122"/>
                <a:cs typeface="Calibri" pitchFamily="34" charset="-120"/>
              </a:rPr>
              <a:t>Trial Activation — Race Condition on Concurrent Requests</a:t>
            </a:r>
            <a:endParaRPr lang="en-US" sz="1150" dirty="0"/>
          </a:p>
        </p:txBody>
      </p:sp>
      <p:sp>
        <p:nvSpPr>
          <p:cNvPr id="33" name="Text 31"/>
          <p:cNvSpPr/>
          <p:nvPr/>
        </p:nvSpPr>
        <p:spPr>
          <a:xfrm>
            <a:off x="4846320" y="2926080"/>
            <a:ext cx="39776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billing/trial/ensure reads trialStatus then conditionally writes — no atomic lock. Two concurrent POST requests from the same user can both pass the expiry check and both activate a trial, yielding two 14-day pro windows.</a:t>
            </a:r>
            <a:endParaRPr lang="en-US" sz="950" dirty="0"/>
          </a:p>
        </p:txBody>
      </p:sp>
      <p:sp>
        <p:nvSpPr>
          <p:cNvPr id="34" name="Shape 32"/>
          <p:cNvSpPr/>
          <p:nvPr/>
        </p:nvSpPr>
        <p:spPr>
          <a:xfrm>
            <a:off x="320040" y="3520440"/>
            <a:ext cx="8503920" cy="73152"/>
          </a:xfrm>
          <a:prstGeom prst="rect">
            <a:avLst/>
          </a:prstGeom>
          <a:solidFill>
            <a:srgbClr val="EFF4FD"/>
          </a:solidFill>
          <a:ln w="12700">
            <a:solidFill>
              <a:srgbClr val="EFF4FD"/>
            </a:solidFill>
            <a:prstDash val="solid"/>
          </a:ln>
        </p:spPr>
      </p:sp>
      <p:sp>
        <p:nvSpPr>
          <p:cNvPr id="35" name="Text 33"/>
          <p:cNvSpPr/>
          <p:nvPr/>
        </p:nvSpPr>
        <p:spPr>
          <a:xfrm>
            <a:off x="320040" y="3639312"/>
            <a:ext cx="3657600" cy="201168"/>
          </a:xfrm>
          <a:prstGeom prst="rect">
            <a:avLst/>
          </a:prstGeom>
          <a:noFill/>
          <a:ln/>
        </p:spPr>
        <p:txBody>
          <a:bodyPr wrap="square" lIns="0" tIns="0" rIns="0" bIns="0" rtlCol="0" anchor="ctr"/>
          <a:lstStyle/>
          <a:p>
            <a:pPr indent="0" marL="0">
              <a:buNone/>
            </a:pPr>
            <a:r>
              <a:rPr lang="en-US" sz="1000" b="1" dirty="0">
                <a:solidFill>
                  <a:srgbClr val="0B1740"/>
                </a:solidFill>
                <a:latin typeface="Calibri" pitchFamily="34" charset="0"/>
                <a:ea typeface="Calibri" pitchFamily="34" charset="-122"/>
                <a:cs typeface="Calibri" pitchFamily="34" charset="-120"/>
              </a:rPr>
              <a:t>Additional Low-Severity Findings:</a:t>
            </a:r>
            <a:endParaRPr lang="en-US" sz="1000" dirty="0"/>
          </a:p>
        </p:txBody>
      </p:sp>
      <p:sp>
        <p:nvSpPr>
          <p:cNvPr id="36" name="Text 34"/>
          <p:cNvSpPr/>
          <p:nvPr/>
        </p:nvSpPr>
        <p:spPr>
          <a:xfrm>
            <a:off x="320040" y="3858768"/>
            <a:ext cx="8503920" cy="502920"/>
          </a:xfrm>
          <a:prstGeom prst="rect">
            <a:avLst/>
          </a:prstGeom>
          <a:noFill/>
          <a:ln/>
        </p:spPr>
        <p:txBody>
          <a:bodyPr wrap="square" lIns="0" tIns="0" rIns="0" bIns="0" rtlCol="0" anchor="ctr"/>
          <a:lstStyle/>
          <a:p>
            <a:pPr indent="0" marL="0">
              <a:buNone/>
            </a:pPr>
            <a:r>
              <a:rPr lang="en-US" sz="1000" b="1" dirty="0">
                <a:solidFill>
                  <a:srgbClr val="0B1740"/>
                </a:solidFill>
                <a:latin typeface="Calibri" pitchFamily="34" charset="0"/>
                <a:ea typeface="Calibri" pitchFamily="34" charset="-122"/>
                <a:cs typeface="Calibri" pitchFamily="34" charset="-120"/>
              </a:rPr>
              <a:t>F-05  </a:t>
            </a:r>
            <a:pPr indent="0" marL="0">
              <a:buNone/>
            </a:pPr>
            <a:r>
              <a:rPr lang="en-US" sz="1000" dirty="0">
                <a:solidFill>
                  <a:srgbClr val="64748B"/>
                </a:solidFill>
                <a:latin typeface="Calibri" pitchFamily="34" charset="0"/>
                <a:ea typeface="Calibri" pitchFamily="34" charset="-122"/>
                <a:cs typeface="Calibri" pitchFamily="34" charset="-120"/>
              </a:rPr>
              <a:t>Prisma log: ['query'] active unconditionally — logs all queries including user IDs in production (src/lib/db.ts)  </a:t>
            </a:r>
            <a:pPr indent="0" marL="0">
              <a:buNone/>
            </a:pPr>
            <a:r>
              <a:rPr lang="en-US" sz="1000" b="1" dirty="0">
                <a:solidFill>
                  <a:srgbClr val="0B1740"/>
                </a:solidFill>
                <a:latin typeface="Calibri" pitchFamily="34" charset="0"/>
                <a:ea typeface="Calibri" pitchFamily="34" charset="-122"/>
                <a:cs typeface="Calibri" pitchFamily="34" charset="-120"/>
              </a:rPr>
              <a:t>F-06  </a:t>
            </a:r>
            <a:pPr indent="0" marL="0">
              <a:buNone/>
            </a:pPr>
            <a:r>
              <a:rPr lang="en-US" sz="1000" dirty="0">
                <a:solidFill>
                  <a:srgbClr val="64748B"/>
                </a:solidFill>
                <a:latin typeface="Calibri" pitchFamily="34" charset="0"/>
                <a:ea typeface="Calibri" pitchFamily="34" charset="-122"/>
                <a:cs typeface="Calibri" pitchFamily="34" charset="-120"/>
              </a:rPr>
              <a:t>AI chat messages array has no max length cap — a client can send thousands of messages consuming massive NVIDIA tokens.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B1740"/>
          </a:solidFill>
          <a:ln w="12700">
            <a:solidFill>
              <a:srgbClr val="0B174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2400" b="1" dirty="0">
                <a:solidFill>
                  <a:srgbClr val="0B1740"/>
                </a:solidFill>
                <a:latin typeface="Calibri" pitchFamily="34" charset="0"/>
                <a:ea typeface="Calibri" pitchFamily="34" charset="-122"/>
                <a:cs typeface="Calibri" pitchFamily="34" charset="-120"/>
              </a:rPr>
              <a:t>Role 2: QA Tester — Edge Cases &amp; API Contract Gaps</a:t>
            </a:r>
            <a:endParaRPr lang="en-US" sz="2400" dirty="0"/>
          </a:p>
        </p:txBody>
      </p:sp>
      <p:sp>
        <p:nvSpPr>
          <p:cNvPr id="4" name="Text 2"/>
          <p:cNvSpPr/>
          <p:nvPr/>
        </p:nvSpPr>
        <p:spPr>
          <a:xfrm>
            <a:off x="457200" y="713232"/>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6 issues found in boundary conditions, API design, and test coverage</a:t>
            </a:r>
            <a:endParaRPr lang="en-US" sz="1100" dirty="0"/>
          </a:p>
        </p:txBody>
      </p:sp>
      <p:sp>
        <p:nvSpPr>
          <p:cNvPr id="5" name="Shape 3"/>
          <p:cNvSpPr/>
          <p:nvPr/>
        </p:nvSpPr>
        <p:spPr>
          <a:xfrm>
            <a:off x="0" y="5047488"/>
            <a:ext cx="9144000" cy="91440"/>
          </a:xfrm>
          <a:prstGeom prst="rect">
            <a:avLst/>
          </a:prstGeom>
          <a:solidFill>
            <a:srgbClr val="0B1740"/>
          </a:solidFill>
          <a:ln w="12700">
            <a:solidFill>
              <a:srgbClr val="0B1740"/>
            </a:solidFill>
            <a:prstDash val="solid"/>
          </a:ln>
        </p:spPr>
      </p:sp>
      <p:sp>
        <p:nvSpPr>
          <p:cNvPr id="6" name="Shape 4"/>
          <p:cNvSpPr/>
          <p:nvPr/>
        </p:nvSpPr>
        <p:spPr>
          <a:xfrm>
            <a:off x="320040" y="1078992"/>
            <a:ext cx="4206240" cy="1225296"/>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320040" y="1078992"/>
            <a:ext cx="54864" cy="1225296"/>
          </a:xfrm>
          <a:prstGeom prst="rect">
            <a:avLst/>
          </a:prstGeom>
          <a:solidFill>
            <a:srgbClr val="E88A1A"/>
          </a:solidFill>
          <a:ln w="12700">
            <a:solidFill>
              <a:srgbClr val="E88A1A"/>
            </a:solidFill>
            <a:prstDash val="solid"/>
          </a:ln>
        </p:spPr>
      </p:sp>
      <p:sp>
        <p:nvSpPr>
          <p:cNvPr id="8" name="Shape 6"/>
          <p:cNvSpPr/>
          <p:nvPr/>
        </p:nvSpPr>
        <p:spPr>
          <a:xfrm>
            <a:off x="448056" y="1170432"/>
            <a:ext cx="960120" cy="201168"/>
          </a:xfrm>
          <a:prstGeom prst="rect">
            <a:avLst>
              <a:gd name="adj" fmla="val 18182"/>
            </a:avLst>
          </a:prstGeom>
          <a:solidFill>
            <a:srgbClr val="E88A1A"/>
          </a:solidFill>
          <a:ln w="12700">
            <a:solidFill>
              <a:srgbClr val="E88A1A"/>
            </a:solidFill>
            <a:prstDash val="solid"/>
          </a:ln>
        </p:spPr>
      </p:sp>
      <p:sp>
        <p:nvSpPr>
          <p:cNvPr id="9" name="Text 7"/>
          <p:cNvSpPr/>
          <p:nvPr/>
        </p:nvSpPr>
        <p:spPr>
          <a:xfrm>
            <a:off x="448056" y="1170432"/>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0" name="Text 8"/>
          <p:cNvSpPr/>
          <p:nvPr/>
        </p:nvSpPr>
        <p:spPr>
          <a:xfrm>
            <a:off x="1490472" y="1161288"/>
            <a:ext cx="54864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QA-1</a:t>
            </a:r>
            <a:endParaRPr lang="en-US" sz="950" dirty="0"/>
          </a:p>
        </p:txBody>
      </p:sp>
      <p:sp>
        <p:nvSpPr>
          <p:cNvPr id="11" name="Text 9"/>
          <p:cNvSpPr/>
          <p:nvPr/>
        </p:nvSpPr>
        <p:spPr>
          <a:xfrm>
            <a:off x="448056" y="1417320"/>
            <a:ext cx="3977640" cy="256032"/>
          </a:xfrm>
          <a:prstGeom prst="rect">
            <a:avLst/>
          </a:prstGeom>
          <a:noFill/>
          <a:ln/>
        </p:spPr>
        <p:txBody>
          <a:bodyPr wrap="square" lIns="0" tIns="0" rIns="0" bIns="0" rtlCol="0" anchor="ctr"/>
          <a:lstStyle/>
          <a:p>
            <a:pPr indent="0" marL="0">
              <a:buNone/>
            </a:pPr>
            <a:r>
              <a:rPr lang="en-US" sz="1050" b="1" dirty="0">
                <a:solidFill>
                  <a:srgbClr val="0B1740"/>
                </a:solidFill>
                <a:latin typeface="Calibri" pitchFamily="34" charset="0"/>
                <a:ea typeface="Calibri" pitchFamily="34" charset="-122"/>
                <a:cs typeface="Calibri" pitchFamily="34" charset="-120"/>
              </a:rPr>
              <a:t>OCR Amount Validation — Silent Rejection of Valid Receipts</a:t>
            </a:r>
            <a:endParaRPr lang="en-US" sz="1050" dirty="0"/>
          </a:p>
        </p:txBody>
      </p:sp>
      <p:sp>
        <p:nvSpPr>
          <p:cNvPr id="12" name="Text 10"/>
          <p:cNvSpPr/>
          <p:nvPr/>
        </p:nvSpPr>
        <p:spPr>
          <a:xfrm>
            <a:off x="448056" y="1691640"/>
            <a:ext cx="397764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validateReceiptExtraction() throws if amount ≤ 0. parseAmount() returns 0 for unusual formats (e.g. Arabic-comma thousands). A valid receipt with non-standard formatting is silently rejected with a cryptic error, degrading UX.</a:t>
            </a:r>
            <a:endParaRPr lang="en-US" sz="950" dirty="0"/>
          </a:p>
        </p:txBody>
      </p:sp>
      <p:sp>
        <p:nvSpPr>
          <p:cNvPr id="13" name="Shape 11"/>
          <p:cNvSpPr/>
          <p:nvPr/>
        </p:nvSpPr>
        <p:spPr>
          <a:xfrm>
            <a:off x="4754880" y="1078992"/>
            <a:ext cx="4206240" cy="1225296"/>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4754880" y="1078992"/>
            <a:ext cx="54864" cy="1225296"/>
          </a:xfrm>
          <a:prstGeom prst="rect">
            <a:avLst/>
          </a:prstGeom>
          <a:solidFill>
            <a:srgbClr val="E88A1A"/>
          </a:solidFill>
          <a:ln w="12700">
            <a:solidFill>
              <a:srgbClr val="E88A1A"/>
            </a:solidFill>
            <a:prstDash val="solid"/>
          </a:ln>
        </p:spPr>
      </p:sp>
      <p:sp>
        <p:nvSpPr>
          <p:cNvPr id="15" name="Shape 13"/>
          <p:cNvSpPr/>
          <p:nvPr/>
        </p:nvSpPr>
        <p:spPr>
          <a:xfrm>
            <a:off x="4882896" y="1170432"/>
            <a:ext cx="960120" cy="201168"/>
          </a:xfrm>
          <a:prstGeom prst="rect">
            <a:avLst>
              <a:gd name="adj" fmla="val 18182"/>
            </a:avLst>
          </a:prstGeom>
          <a:solidFill>
            <a:srgbClr val="E88A1A"/>
          </a:solidFill>
          <a:ln w="12700">
            <a:solidFill>
              <a:srgbClr val="E88A1A"/>
            </a:solidFill>
            <a:prstDash val="solid"/>
          </a:ln>
        </p:spPr>
      </p:sp>
      <p:sp>
        <p:nvSpPr>
          <p:cNvPr id="16" name="Text 14"/>
          <p:cNvSpPr/>
          <p:nvPr/>
        </p:nvSpPr>
        <p:spPr>
          <a:xfrm>
            <a:off x="4882896" y="1170432"/>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7" name="Text 15"/>
          <p:cNvSpPr/>
          <p:nvPr/>
        </p:nvSpPr>
        <p:spPr>
          <a:xfrm>
            <a:off x="5925312" y="1161288"/>
            <a:ext cx="54864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QA-2</a:t>
            </a:r>
            <a:endParaRPr lang="en-US" sz="950" dirty="0"/>
          </a:p>
        </p:txBody>
      </p:sp>
      <p:sp>
        <p:nvSpPr>
          <p:cNvPr id="18" name="Text 16"/>
          <p:cNvSpPr/>
          <p:nvPr/>
        </p:nvSpPr>
        <p:spPr>
          <a:xfrm>
            <a:off x="4882896" y="1417320"/>
            <a:ext cx="3977640" cy="256032"/>
          </a:xfrm>
          <a:prstGeom prst="rect">
            <a:avLst/>
          </a:prstGeom>
          <a:noFill/>
          <a:ln/>
        </p:spPr>
        <p:txBody>
          <a:bodyPr wrap="square" lIns="0" tIns="0" rIns="0" bIns="0" rtlCol="0" anchor="ctr"/>
          <a:lstStyle/>
          <a:p>
            <a:pPr indent="0" marL="0">
              <a:buNone/>
            </a:pPr>
            <a:r>
              <a:rPr lang="en-US" sz="1050" b="1" dirty="0">
                <a:solidFill>
                  <a:srgbClr val="0B1740"/>
                </a:solidFill>
                <a:latin typeface="Calibri" pitchFamily="34" charset="0"/>
                <a:ea typeface="Calibri" pitchFamily="34" charset="-122"/>
                <a:cs typeface="Calibri" pitchFamily="34" charset="-120"/>
              </a:rPr>
              <a:t>Market Data — No Symbol Count Cap</a:t>
            </a:r>
            <a:endParaRPr lang="en-US" sz="1050" dirty="0"/>
          </a:p>
        </p:txBody>
      </p:sp>
      <p:sp>
        <p:nvSpPr>
          <p:cNvPr id="19" name="Text 17"/>
          <p:cNvSpPr/>
          <p:nvPr/>
        </p:nvSpPr>
        <p:spPr>
          <a:xfrm>
            <a:off x="4882896" y="1691640"/>
            <a:ext cx="397764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saudi/quotes and global/quotes accept unbounded symbol arrays. A single request with 5,000 symbols fires 250 parallel SAHMK API calls. This burns API credits, potentially hitting rate limits on the data provider side.</a:t>
            </a:r>
            <a:endParaRPr lang="en-US" sz="950" dirty="0"/>
          </a:p>
        </p:txBody>
      </p:sp>
      <p:sp>
        <p:nvSpPr>
          <p:cNvPr id="20" name="Shape 18"/>
          <p:cNvSpPr/>
          <p:nvPr/>
        </p:nvSpPr>
        <p:spPr>
          <a:xfrm>
            <a:off x="320040" y="2395728"/>
            <a:ext cx="4206240" cy="1225296"/>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320040" y="2395728"/>
            <a:ext cx="54864" cy="1225296"/>
          </a:xfrm>
          <a:prstGeom prst="rect">
            <a:avLst/>
          </a:prstGeom>
          <a:solidFill>
            <a:srgbClr val="E88A1A"/>
          </a:solidFill>
          <a:ln w="12700">
            <a:solidFill>
              <a:srgbClr val="E88A1A"/>
            </a:solidFill>
            <a:prstDash val="solid"/>
          </a:ln>
        </p:spPr>
      </p:sp>
      <p:sp>
        <p:nvSpPr>
          <p:cNvPr id="22" name="Shape 20"/>
          <p:cNvSpPr/>
          <p:nvPr/>
        </p:nvSpPr>
        <p:spPr>
          <a:xfrm>
            <a:off x="448056" y="2487168"/>
            <a:ext cx="960120" cy="201168"/>
          </a:xfrm>
          <a:prstGeom prst="rect">
            <a:avLst>
              <a:gd name="adj" fmla="val 18182"/>
            </a:avLst>
          </a:prstGeom>
          <a:solidFill>
            <a:srgbClr val="E88A1A"/>
          </a:solidFill>
          <a:ln w="12700">
            <a:solidFill>
              <a:srgbClr val="E88A1A"/>
            </a:solidFill>
            <a:prstDash val="solid"/>
          </a:ln>
        </p:spPr>
      </p:sp>
      <p:sp>
        <p:nvSpPr>
          <p:cNvPr id="23" name="Text 21"/>
          <p:cNvSpPr/>
          <p:nvPr/>
        </p:nvSpPr>
        <p:spPr>
          <a:xfrm>
            <a:off x="448056" y="2487168"/>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4" name="Text 22"/>
          <p:cNvSpPr/>
          <p:nvPr/>
        </p:nvSpPr>
        <p:spPr>
          <a:xfrm>
            <a:off x="1490472" y="2478024"/>
            <a:ext cx="54864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QA-3</a:t>
            </a:r>
            <a:endParaRPr lang="en-US" sz="950" dirty="0"/>
          </a:p>
        </p:txBody>
      </p:sp>
      <p:sp>
        <p:nvSpPr>
          <p:cNvPr id="25" name="Text 23"/>
          <p:cNvSpPr/>
          <p:nvPr/>
        </p:nvSpPr>
        <p:spPr>
          <a:xfrm>
            <a:off x="448056" y="2734056"/>
            <a:ext cx="3977640" cy="256032"/>
          </a:xfrm>
          <a:prstGeom prst="rect">
            <a:avLst/>
          </a:prstGeom>
          <a:noFill/>
          <a:ln/>
        </p:spPr>
        <p:txBody>
          <a:bodyPr wrap="square" lIns="0" tIns="0" rIns="0" bIns="0" rtlCol="0" anchor="ctr"/>
          <a:lstStyle/>
          <a:p>
            <a:pPr indent="0" marL="0">
              <a:buNone/>
            </a:pPr>
            <a:r>
              <a:rPr lang="en-US" sz="1050" b="1" dirty="0">
                <a:solidFill>
                  <a:srgbClr val="0B1740"/>
                </a:solidFill>
                <a:latin typeface="Calibri" pitchFamily="34" charset="0"/>
                <a:ea typeface="Calibri" pitchFamily="34" charset="-122"/>
                <a:cs typeface="Calibri" pitchFamily="34" charset="-120"/>
              </a:rPr>
              <a:t>AI Chat — assistant-Role Messages Bypass Sanitizer</a:t>
            </a:r>
            <a:endParaRPr lang="en-US" sz="1050" dirty="0"/>
          </a:p>
        </p:txBody>
      </p:sp>
      <p:sp>
        <p:nvSpPr>
          <p:cNvPr id="26" name="Text 24"/>
          <p:cNvSpPr/>
          <p:nvPr/>
        </p:nvSpPr>
        <p:spPr>
          <a:xfrm>
            <a:off x="448056" y="3008376"/>
            <a:ext cx="397764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sanitizeUserMessage() only runs on role === 'user'. History items sent with role 'assistant' pass unsanitized into the NVIDIA API. An attacker can inject prompt commands through the conversation history array.</a:t>
            </a:r>
            <a:endParaRPr lang="en-US" sz="950" dirty="0"/>
          </a:p>
        </p:txBody>
      </p:sp>
      <p:sp>
        <p:nvSpPr>
          <p:cNvPr id="27" name="Shape 25"/>
          <p:cNvSpPr/>
          <p:nvPr/>
        </p:nvSpPr>
        <p:spPr>
          <a:xfrm>
            <a:off x="4754880" y="2395728"/>
            <a:ext cx="4206240" cy="1225296"/>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8" name="Shape 26"/>
          <p:cNvSpPr/>
          <p:nvPr/>
        </p:nvSpPr>
        <p:spPr>
          <a:xfrm>
            <a:off x="4754880" y="2395728"/>
            <a:ext cx="54864" cy="1225296"/>
          </a:xfrm>
          <a:prstGeom prst="rect">
            <a:avLst/>
          </a:prstGeom>
          <a:solidFill>
            <a:srgbClr val="0F7B8C"/>
          </a:solidFill>
          <a:ln w="12700">
            <a:solidFill>
              <a:srgbClr val="0F7B8C"/>
            </a:solidFill>
            <a:prstDash val="solid"/>
          </a:ln>
        </p:spPr>
      </p:sp>
      <p:sp>
        <p:nvSpPr>
          <p:cNvPr id="29" name="Shape 27"/>
          <p:cNvSpPr/>
          <p:nvPr/>
        </p:nvSpPr>
        <p:spPr>
          <a:xfrm>
            <a:off x="4882896" y="2487168"/>
            <a:ext cx="960120" cy="201168"/>
          </a:xfrm>
          <a:prstGeom prst="rect">
            <a:avLst>
              <a:gd name="adj" fmla="val 18182"/>
            </a:avLst>
          </a:prstGeom>
          <a:solidFill>
            <a:srgbClr val="0F7B8C"/>
          </a:solidFill>
          <a:ln w="12700">
            <a:solidFill>
              <a:srgbClr val="0F7B8C"/>
            </a:solidFill>
            <a:prstDash val="solid"/>
          </a:ln>
        </p:spPr>
      </p:sp>
      <p:sp>
        <p:nvSpPr>
          <p:cNvPr id="30" name="Text 28"/>
          <p:cNvSpPr/>
          <p:nvPr/>
        </p:nvSpPr>
        <p:spPr>
          <a:xfrm>
            <a:off x="4882896" y="2487168"/>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31" name="Text 29"/>
          <p:cNvSpPr/>
          <p:nvPr/>
        </p:nvSpPr>
        <p:spPr>
          <a:xfrm>
            <a:off x="5925312" y="2478024"/>
            <a:ext cx="54864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QA-4</a:t>
            </a:r>
            <a:endParaRPr lang="en-US" sz="950" dirty="0"/>
          </a:p>
        </p:txBody>
      </p:sp>
      <p:sp>
        <p:nvSpPr>
          <p:cNvPr id="32" name="Text 30"/>
          <p:cNvSpPr/>
          <p:nvPr/>
        </p:nvSpPr>
        <p:spPr>
          <a:xfrm>
            <a:off x="4882896" y="2734056"/>
            <a:ext cx="3977640" cy="256032"/>
          </a:xfrm>
          <a:prstGeom prst="rect">
            <a:avLst/>
          </a:prstGeom>
          <a:noFill/>
          <a:ln/>
        </p:spPr>
        <p:txBody>
          <a:bodyPr wrap="square" lIns="0" tIns="0" rIns="0" bIns="0" rtlCol="0" anchor="ctr"/>
          <a:lstStyle/>
          <a:p>
            <a:pPr indent="0" marL="0">
              <a:buNone/>
            </a:pPr>
            <a:r>
              <a:rPr lang="en-US" sz="1050" b="1" dirty="0">
                <a:solidFill>
                  <a:srgbClr val="0B1740"/>
                </a:solidFill>
                <a:latin typeface="Calibri" pitchFamily="34" charset="0"/>
                <a:ea typeface="Calibri" pitchFamily="34" charset="-122"/>
                <a:cs typeface="Calibri" pitchFamily="34" charset="-120"/>
              </a:rPr>
              <a:t>D1 Table Auto-Creation on Every Request</a:t>
            </a:r>
            <a:endParaRPr lang="en-US" sz="1050" dirty="0"/>
          </a:p>
        </p:txBody>
      </p:sp>
      <p:sp>
        <p:nvSpPr>
          <p:cNvPr id="33" name="Text 31"/>
          <p:cNvSpPr/>
          <p:nvPr/>
        </p:nvSpPr>
        <p:spPr>
          <a:xfrm>
            <a:off x="4882896" y="3008376"/>
            <a:ext cx="397764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ensureWorkspaceTable() runs CREATE TABLE IF NOT EXISTS on every GET and PUT — even in steady state. This adds a redundant write round-trip to Cloudflare D1 on every sync operation, increasing latency.</a:t>
            </a:r>
            <a:endParaRPr lang="en-US" sz="950" dirty="0"/>
          </a:p>
        </p:txBody>
      </p:sp>
      <p:sp>
        <p:nvSpPr>
          <p:cNvPr id="34" name="Shape 32"/>
          <p:cNvSpPr/>
          <p:nvPr/>
        </p:nvSpPr>
        <p:spPr>
          <a:xfrm>
            <a:off x="320040" y="3712464"/>
            <a:ext cx="4206240" cy="1225296"/>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35" name="Shape 33"/>
          <p:cNvSpPr/>
          <p:nvPr/>
        </p:nvSpPr>
        <p:spPr>
          <a:xfrm>
            <a:off x="320040" y="3712464"/>
            <a:ext cx="54864" cy="1225296"/>
          </a:xfrm>
          <a:prstGeom prst="rect">
            <a:avLst/>
          </a:prstGeom>
          <a:solidFill>
            <a:srgbClr val="0F7B8C"/>
          </a:solidFill>
          <a:ln w="12700">
            <a:solidFill>
              <a:srgbClr val="0F7B8C"/>
            </a:solidFill>
            <a:prstDash val="solid"/>
          </a:ln>
        </p:spPr>
      </p:sp>
      <p:sp>
        <p:nvSpPr>
          <p:cNvPr id="36" name="Shape 34"/>
          <p:cNvSpPr/>
          <p:nvPr/>
        </p:nvSpPr>
        <p:spPr>
          <a:xfrm>
            <a:off x="448056" y="3803904"/>
            <a:ext cx="960120" cy="201168"/>
          </a:xfrm>
          <a:prstGeom prst="rect">
            <a:avLst>
              <a:gd name="adj" fmla="val 18182"/>
            </a:avLst>
          </a:prstGeom>
          <a:solidFill>
            <a:srgbClr val="0F7B8C"/>
          </a:solidFill>
          <a:ln w="12700">
            <a:solidFill>
              <a:srgbClr val="0F7B8C"/>
            </a:solidFill>
            <a:prstDash val="solid"/>
          </a:ln>
        </p:spPr>
      </p:sp>
      <p:sp>
        <p:nvSpPr>
          <p:cNvPr id="37" name="Text 35"/>
          <p:cNvSpPr/>
          <p:nvPr/>
        </p:nvSpPr>
        <p:spPr>
          <a:xfrm>
            <a:off x="448056" y="3803904"/>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38" name="Text 36"/>
          <p:cNvSpPr/>
          <p:nvPr/>
        </p:nvSpPr>
        <p:spPr>
          <a:xfrm>
            <a:off x="1490472" y="3794760"/>
            <a:ext cx="54864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QA-5</a:t>
            </a:r>
            <a:endParaRPr lang="en-US" sz="950" dirty="0"/>
          </a:p>
        </p:txBody>
      </p:sp>
      <p:sp>
        <p:nvSpPr>
          <p:cNvPr id="39" name="Text 37"/>
          <p:cNvSpPr/>
          <p:nvPr/>
        </p:nvSpPr>
        <p:spPr>
          <a:xfrm>
            <a:off x="448056" y="4050792"/>
            <a:ext cx="3977640" cy="256032"/>
          </a:xfrm>
          <a:prstGeom prst="rect">
            <a:avLst/>
          </a:prstGeom>
          <a:noFill/>
          <a:ln/>
        </p:spPr>
        <p:txBody>
          <a:bodyPr wrap="square" lIns="0" tIns="0" rIns="0" bIns="0" rtlCol="0" anchor="ctr"/>
          <a:lstStyle/>
          <a:p>
            <a:pPr indent="0" marL="0">
              <a:buNone/>
            </a:pPr>
            <a:r>
              <a:rPr lang="en-US" sz="1050" b="1" dirty="0">
                <a:solidFill>
                  <a:srgbClr val="0B1740"/>
                </a:solidFill>
                <a:latin typeface="Calibri" pitchFamily="34" charset="0"/>
                <a:ea typeface="Calibri" pitchFamily="34" charset="-122"/>
                <a:cs typeface="Calibri" pitchFamily="34" charset="-120"/>
              </a:rPr>
              <a:t>Trial Ensure — Ambiguous initialized:false Response</a:t>
            </a:r>
            <a:endParaRPr lang="en-US" sz="1050" dirty="0"/>
          </a:p>
        </p:txBody>
      </p:sp>
      <p:sp>
        <p:nvSpPr>
          <p:cNvPr id="40" name="Text 38"/>
          <p:cNvSpPr/>
          <p:nvPr/>
        </p:nvSpPr>
        <p:spPr>
          <a:xfrm>
            <a:off x="448056" y="4325112"/>
            <a:ext cx="397764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Paid users and users with no trial both receive initialized: false with no semantic distinction. Client-side logic that checks initialized alone cannot distinguish 'already paid' from 'never started trial'.</a:t>
            </a:r>
            <a:endParaRPr lang="en-US" sz="950" dirty="0"/>
          </a:p>
        </p:txBody>
      </p:sp>
      <p:sp>
        <p:nvSpPr>
          <p:cNvPr id="41" name="Shape 39"/>
          <p:cNvSpPr/>
          <p:nvPr/>
        </p:nvSpPr>
        <p:spPr>
          <a:xfrm>
            <a:off x="4754880" y="3712464"/>
            <a:ext cx="4206240" cy="1225296"/>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42" name="Shape 40"/>
          <p:cNvSpPr/>
          <p:nvPr/>
        </p:nvSpPr>
        <p:spPr>
          <a:xfrm>
            <a:off x="4754880" y="3712464"/>
            <a:ext cx="54864" cy="1225296"/>
          </a:xfrm>
          <a:prstGeom prst="rect">
            <a:avLst/>
          </a:prstGeom>
          <a:solidFill>
            <a:srgbClr val="0F7B8C"/>
          </a:solidFill>
          <a:ln w="12700">
            <a:solidFill>
              <a:srgbClr val="0F7B8C"/>
            </a:solidFill>
            <a:prstDash val="solid"/>
          </a:ln>
        </p:spPr>
      </p:sp>
      <p:sp>
        <p:nvSpPr>
          <p:cNvPr id="43" name="Shape 41"/>
          <p:cNvSpPr/>
          <p:nvPr/>
        </p:nvSpPr>
        <p:spPr>
          <a:xfrm>
            <a:off x="4882896" y="3803904"/>
            <a:ext cx="960120" cy="201168"/>
          </a:xfrm>
          <a:prstGeom prst="rect">
            <a:avLst>
              <a:gd name="adj" fmla="val 18182"/>
            </a:avLst>
          </a:prstGeom>
          <a:solidFill>
            <a:srgbClr val="0F7B8C"/>
          </a:solidFill>
          <a:ln w="12700">
            <a:solidFill>
              <a:srgbClr val="0F7B8C"/>
            </a:solidFill>
            <a:prstDash val="solid"/>
          </a:ln>
        </p:spPr>
      </p:sp>
      <p:sp>
        <p:nvSpPr>
          <p:cNvPr id="44" name="Text 42"/>
          <p:cNvSpPr/>
          <p:nvPr/>
        </p:nvSpPr>
        <p:spPr>
          <a:xfrm>
            <a:off x="4882896" y="3803904"/>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45" name="Text 43"/>
          <p:cNvSpPr/>
          <p:nvPr/>
        </p:nvSpPr>
        <p:spPr>
          <a:xfrm>
            <a:off x="5925312" y="3794760"/>
            <a:ext cx="548640" cy="219456"/>
          </a:xfrm>
          <a:prstGeom prst="rect">
            <a:avLst/>
          </a:prstGeom>
          <a:noFill/>
          <a:ln/>
        </p:spPr>
        <p:txBody>
          <a:bodyPr wrap="square" lIns="0" tIns="0" rIns="0" bIns="0" rtlCol="0" anchor="ctr"/>
          <a:lstStyle/>
          <a:p>
            <a:pPr indent="0" marL="0">
              <a:buNone/>
            </a:pPr>
            <a:r>
              <a:rPr lang="en-US" sz="950" b="1" dirty="0">
                <a:solidFill>
                  <a:srgbClr val="0B1740"/>
                </a:solidFill>
                <a:latin typeface="Calibri" pitchFamily="34" charset="0"/>
                <a:ea typeface="Calibri" pitchFamily="34" charset="-122"/>
                <a:cs typeface="Calibri" pitchFamily="34" charset="-120"/>
              </a:rPr>
              <a:t>QA-6</a:t>
            </a:r>
            <a:endParaRPr lang="en-US" sz="950" dirty="0"/>
          </a:p>
        </p:txBody>
      </p:sp>
      <p:sp>
        <p:nvSpPr>
          <p:cNvPr id="46" name="Text 44"/>
          <p:cNvSpPr/>
          <p:nvPr/>
        </p:nvSpPr>
        <p:spPr>
          <a:xfrm>
            <a:off x="4882896" y="4050792"/>
            <a:ext cx="3977640" cy="256032"/>
          </a:xfrm>
          <a:prstGeom prst="rect">
            <a:avLst/>
          </a:prstGeom>
          <a:noFill/>
          <a:ln/>
        </p:spPr>
        <p:txBody>
          <a:bodyPr wrap="square" lIns="0" tIns="0" rIns="0" bIns="0" rtlCol="0" anchor="ctr"/>
          <a:lstStyle/>
          <a:p>
            <a:pPr indent="0" marL="0">
              <a:buNone/>
            </a:pPr>
            <a:r>
              <a:rPr lang="en-US" sz="1050" b="1" dirty="0">
                <a:solidFill>
                  <a:srgbClr val="0B1740"/>
                </a:solidFill>
                <a:latin typeface="Calibri" pitchFamily="34" charset="0"/>
                <a:ea typeface="Calibri" pitchFamily="34" charset="-122"/>
                <a:cs typeface="Calibri" pitchFamily="34" charset="-120"/>
              </a:rPr>
              <a:t>No Explicit CORS Policy on API Routes</a:t>
            </a:r>
            <a:endParaRPr lang="en-US" sz="1050" dirty="0"/>
          </a:p>
        </p:txBody>
      </p:sp>
      <p:sp>
        <p:nvSpPr>
          <p:cNvPr id="47" name="Text 45"/>
          <p:cNvSpPr/>
          <p:nvPr/>
        </p:nvSpPr>
        <p:spPr>
          <a:xfrm>
            <a:off x="4882896" y="4325112"/>
            <a:ext cx="397764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API routes lack explicit CORS headers. If the Cloudflare Worker is accessed directly (non-Next.js host), preflight OPTIONS requests fail. Clerk middleware does not handle CORS for cross-origin consumers.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Role 3: Security Engineer — STRIDE Threat Model</a:t>
            </a:r>
            <a:endParaRPr lang="en-US" sz="2600" dirty="0"/>
          </a:p>
        </p:txBody>
      </p:sp>
      <p:sp>
        <p:nvSpPr>
          <p:cNvPr id="4" name="Text 2"/>
          <p:cNvSpPr/>
          <p:nvPr/>
        </p:nvSpPr>
        <p:spPr>
          <a:xfrm>
            <a:off x="457200" y="768096"/>
            <a:ext cx="8229600" cy="292608"/>
          </a:xfrm>
          <a:prstGeom prst="rect">
            <a:avLst/>
          </a:prstGeom>
          <a:noFill/>
          <a:ln/>
        </p:spPr>
        <p:txBody>
          <a:bodyPr wrap="square" lIns="0" tIns="0" rIns="0" bIns="0" rtlCol="0" anchor="ctr"/>
          <a:lstStyle/>
          <a:p>
            <a:pPr indent="0" marL="0">
              <a:buNone/>
            </a:pPr>
            <a:r>
              <a:rPr lang="en-US" sz="1200" i="1" dirty="0">
                <a:solidFill>
                  <a:srgbClr val="C8DFFE"/>
                </a:solidFill>
                <a:latin typeface="Calibri" pitchFamily="34" charset="0"/>
                <a:ea typeface="Calibri" pitchFamily="34" charset="-122"/>
                <a:cs typeface="Calibri" pitchFamily="34" charset="-120"/>
              </a:rPr>
              <a:t>Systematic adversarial analysis across all six threat categories</a:t>
            </a:r>
            <a:endParaRPr lang="en-US" sz="1200" dirty="0"/>
          </a:p>
        </p:txBody>
      </p:sp>
      <p:sp>
        <p:nvSpPr>
          <p:cNvPr id="5" name="Shape 3"/>
          <p:cNvSpPr/>
          <p:nvPr/>
        </p:nvSpPr>
        <p:spPr>
          <a:xfrm>
            <a:off x="274320" y="1024128"/>
            <a:ext cx="8595360" cy="329184"/>
          </a:xfrm>
          <a:prstGeom prst="rect">
            <a:avLst/>
          </a:prstGeom>
          <a:solidFill>
            <a:srgbClr val="0F7B8C"/>
          </a:solidFill>
          <a:ln w="12700">
            <a:solidFill>
              <a:srgbClr val="0F7B8C"/>
            </a:solidFill>
            <a:prstDash val="solid"/>
          </a:ln>
        </p:spPr>
      </p:sp>
      <p:sp>
        <p:nvSpPr>
          <p:cNvPr id="6" name="Text 4"/>
          <p:cNvSpPr/>
          <p:nvPr/>
        </p:nvSpPr>
        <p:spPr>
          <a:xfrm>
            <a:off x="320040" y="1042416"/>
            <a:ext cx="36576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Letter</a:t>
            </a:r>
            <a:endParaRPr lang="en-US" sz="1000" dirty="0"/>
          </a:p>
        </p:txBody>
      </p:sp>
      <p:sp>
        <p:nvSpPr>
          <p:cNvPr id="7" name="Text 5"/>
          <p:cNvSpPr/>
          <p:nvPr/>
        </p:nvSpPr>
        <p:spPr>
          <a:xfrm>
            <a:off x="640080" y="1042416"/>
            <a:ext cx="10972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p>
        </p:txBody>
      </p:sp>
      <p:sp>
        <p:nvSpPr>
          <p:cNvPr id="8" name="Text 6"/>
          <p:cNvSpPr/>
          <p:nvPr/>
        </p:nvSpPr>
        <p:spPr>
          <a:xfrm>
            <a:off x="1783080" y="1042416"/>
            <a:ext cx="6263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Finding Summary</a:t>
            </a:r>
            <a:endParaRPr lang="en-US" sz="1000" dirty="0"/>
          </a:p>
        </p:txBody>
      </p:sp>
      <p:sp>
        <p:nvSpPr>
          <p:cNvPr id="9" name="Text 7"/>
          <p:cNvSpPr/>
          <p:nvPr/>
        </p:nvSpPr>
        <p:spPr>
          <a:xfrm>
            <a:off x="8119872" y="1042416"/>
            <a:ext cx="10058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10" name="Shape 8"/>
          <p:cNvSpPr/>
          <p:nvPr/>
        </p:nvSpPr>
        <p:spPr>
          <a:xfrm>
            <a:off x="274320" y="1371600"/>
            <a:ext cx="8595360" cy="566928"/>
          </a:xfrm>
          <a:prstGeom prst="rect">
            <a:avLst/>
          </a:prstGeom>
          <a:solidFill>
            <a:srgbClr val="152560"/>
          </a:solidFill>
          <a:ln w="12700">
            <a:solidFill>
              <a:srgbClr val="152560"/>
            </a:solidFill>
            <a:prstDash val="solid"/>
          </a:ln>
        </p:spPr>
      </p:sp>
      <p:sp>
        <p:nvSpPr>
          <p:cNvPr id="11" name="Shape 9"/>
          <p:cNvSpPr/>
          <p:nvPr/>
        </p:nvSpPr>
        <p:spPr>
          <a:xfrm>
            <a:off x="320040" y="1444752"/>
            <a:ext cx="329184" cy="329184"/>
          </a:xfrm>
          <a:prstGeom prst="rect">
            <a:avLst/>
          </a:prstGeom>
          <a:solidFill>
            <a:srgbClr val="1A8C5B"/>
          </a:solidFill>
          <a:ln w="12700">
            <a:solidFill>
              <a:srgbClr val="1A8C5B"/>
            </a:solidFill>
            <a:prstDash val="solid"/>
          </a:ln>
        </p:spPr>
      </p:sp>
      <p:sp>
        <p:nvSpPr>
          <p:cNvPr id="12" name="Text 10"/>
          <p:cNvSpPr/>
          <p:nvPr/>
        </p:nvSpPr>
        <p:spPr>
          <a:xfrm>
            <a:off x="320040" y="14447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13" name="Text 11"/>
          <p:cNvSpPr/>
          <p:nvPr/>
        </p:nvSpPr>
        <p:spPr>
          <a:xfrm>
            <a:off x="694944" y="1463040"/>
            <a:ext cx="1051560" cy="256032"/>
          </a:xfrm>
          <a:prstGeom prst="rect">
            <a:avLst/>
          </a:prstGeom>
          <a:noFill/>
          <a:ln/>
        </p:spPr>
        <p:txBody>
          <a:bodyPr wrap="square" lIns="0" tIns="0" rIns="0" bIns="0" rtlCol="0" anchor="ctr"/>
          <a:lstStyle/>
          <a:p>
            <a:pPr indent="0" marL="0">
              <a:buNone/>
            </a:pPr>
            <a:r>
              <a:rPr lang="en-US" sz="1000" b="1" dirty="0">
                <a:solidFill>
                  <a:srgbClr val="C8DFFE"/>
                </a:solidFill>
                <a:latin typeface="Calibri" pitchFamily="34" charset="0"/>
                <a:ea typeface="Calibri" pitchFamily="34" charset="-122"/>
                <a:cs typeface="Calibri" pitchFamily="34" charset="-120"/>
              </a:rPr>
              <a:t>Spoofing</a:t>
            </a:r>
            <a:endParaRPr lang="en-US" sz="1000" dirty="0"/>
          </a:p>
        </p:txBody>
      </p:sp>
      <p:sp>
        <p:nvSpPr>
          <p:cNvPr id="14" name="Text 12"/>
          <p:cNvSpPr/>
          <p:nvPr/>
        </p:nvSpPr>
        <p:spPr>
          <a:xfrm>
            <a:off x="1783080" y="1426464"/>
            <a:ext cx="6263640" cy="475488"/>
          </a:xfrm>
          <a:prstGeom prst="rect">
            <a:avLst/>
          </a:prstGeom>
          <a:noFill/>
          <a:ln/>
        </p:spPr>
        <p:txBody>
          <a:bodyPr wrap="square" lIns="0" tIns="0" rIns="0" bIns="0" rtlCol="0" anchor="ctr"/>
          <a:lstStyle/>
          <a:p>
            <a:pPr indent="0" marL="0">
              <a:buNone/>
            </a:pPr>
            <a:r>
              <a:rPr lang="en-US" sz="950" dirty="0">
                <a:solidFill>
                  <a:srgbClr val="C8DFFE"/>
                </a:solidFill>
                <a:latin typeface="Calibri" pitchFamily="34" charset="0"/>
                <a:ea typeface="Calibri" pitchFamily="34" charset="-122"/>
                <a:cs typeface="Calibri" pitchFamily="34" charset="-120"/>
              </a:rPr>
              <a:t>Clerk JWT + MFA enforced server-side. No spoofing vector found. Tier metadata is readable but authorization is always server-validated.</a:t>
            </a:r>
            <a:endParaRPr lang="en-US" sz="950" dirty="0"/>
          </a:p>
        </p:txBody>
      </p:sp>
      <p:sp>
        <p:nvSpPr>
          <p:cNvPr id="15" name="Shape 13"/>
          <p:cNvSpPr/>
          <p:nvPr/>
        </p:nvSpPr>
        <p:spPr>
          <a:xfrm>
            <a:off x="8119872" y="1517904"/>
            <a:ext cx="685800" cy="237744"/>
          </a:xfrm>
          <a:prstGeom prst="rect">
            <a:avLst/>
          </a:prstGeom>
          <a:solidFill>
            <a:srgbClr val="1A8C5B"/>
          </a:solidFill>
          <a:ln w="12700">
            <a:solidFill>
              <a:srgbClr val="1A8C5B"/>
            </a:solidFill>
            <a:prstDash val="solid"/>
          </a:ln>
        </p:spPr>
      </p:sp>
      <p:sp>
        <p:nvSpPr>
          <p:cNvPr id="16" name="Text 14"/>
          <p:cNvSpPr/>
          <p:nvPr/>
        </p:nvSpPr>
        <p:spPr>
          <a:xfrm>
            <a:off x="8119872" y="1517904"/>
            <a:ext cx="6858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PASS</a:t>
            </a:r>
            <a:endParaRPr lang="en-US" sz="850" dirty="0"/>
          </a:p>
        </p:txBody>
      </p:sp>
      <p:sp>
        <p:nvSpPr>
          <p:cNvPr id="17" name="Shape 15"/>
          <p:cNvSpPr/>
          <p:nvPr/>
        </p:nvSpPr>
        <p:spPr>
          <a:xfrm>
            <a:off x="274320" y="1965960"/>
            <a:ext cx="8595360" cy="566928"/>
          </a:xfrm>
          <a:prstGeom prst="rect">
            <a:avLst/>
          </a:prstGeom>
          <a:solidFill>
            <a:srgbClr val="0B1740"/>
          </a:solidFill>
          <a:ln w="12700">
            <a:solidFill>
              <a:srgbClr val="0B1740"/>
            </a:solidFill>
            <a:prstDash val="solid"/>
          </a:ln>
        </p:spPr>
      </p:sp>
      <p:sp>
        <p:nvSpPr>
          <p:cNvPr id="18" name="Shape 16"/>
          <p:cNvSpPr/>
          <p:nvPr/>
        </p:nvSpPr>
        <p:spPr>
          <a:xfrm>
            <a:off x="320040" y="2039112"/>
            <a:ext cx="329184" cy="329184"/>
          </a:xfrm>
          <a:prstGeom prst="rect">
            <a:avLst/>
          </a:prstGeom>
          <a:solidFill>
            <a:srgbClr val="E88A1A"/>
          </a:solidFill>
          <a:ln w="12700">
            <a:solidFill>
              <a:srgbClr val="E88A1A"/>
            </a:solidFill>
            <a:prstDash val="solid"/>
          </a:ln>
        </p:spPr>
      </p:sp>
      <p:sp>
        <p:nvSpPr>
          <p:cNvPr id="19" name="Text 17"/>
          <p:cNvSpPr/>
          <p:nvPr/>
        </p:nvSpPr>
        <p:spPr>
          <a:xfrm>
            <a:off x="320040" y="203911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t>
            </a:r>
            <a:endParaRPr lang="en-US" sz="1400" dirty="0"/>
          </a:p>
        </p:txBody>
      </p:sp>
      <p:sp>
        <p:nvSpPr>
          <p:cNvPr id="20" name="Text 18"/>
          <p:cNvSpPr/>
          <p:nvPr/>
        </p:nvSpPr>
        <p:spPr>
          <a:xfrm>
            <a:off x="694944" y="2057400"/>
            <a:ext cx="1051560" cy="256032"/>
          </a:xfrm>
          <a:prstGeom prst="rect">
            <a:avLst/>
          </a:prstGeom>
          <a:noFill/>
          <a:ln/>
        </p:spPr>
        <p:txBody>
          <a:bodyPr wrap="square" lIns="0" tIns="0" rIns="0" bIns="0" rtlCol="0" anchor="ctr"/>
          <a:lstStyle/>
          <a:p>
            <a:pPr indent="0" marL="0">
              <a:buNone/>
            </a:pPr>
            <a:r>
              <a:rPr lang="en-US" sz="1000" b="1" dirty="0">
                <a:solidFill>
                  <a:srgbClr val="C8DFFE"/>
                </a:solidFill>
                <a:latin typeface="Calibri" pitchFamily="34" charset="0"/>
                <a:ea typeface="Calibri" pitchFamily="34" charset="-122"/>
                <a:cs typeface="Calibri" pitchFamily="34" charset="-120"/>
              </a:rPr>
              <a:t>Tampering</a:t>
            </a:r>
            <a:endParaRPr lang="en-US" sz="1000" dirty="0"/>
          </a:p>
        </p:txBody>
      </p:sp>
      <p:sp>
        <p:nvSpPr>
          <p:cNvPr id="21" name="Text 19"/>
          <p:cNvSpPr/>
          <p:nvPr/>
        </p:nvSpPr>
        <p:spPr>
          <a:xfrm>
            <a:off x="1783080" y="2020824"/>
            <a:ext cx="6263640" cy="475488"/>
          </a:xfrm>
          <a:prstGeom prst="rect">
            <a:avLst/>
          </a:prstGeom>
          <a:noFill/>
          <a:ln/>
        </p:spPr>
        <p:txBody>
          <a:bodyPr wrap="square" lIns="0" tIns="0" rIns="0" bIns="0" rtlCol="0" anchor="ctr"/>
          <a:lstStyle/>
          <a:p>
            <a:pPr indent="0" marL="0">
              <a:buNone/>
            </a:pPr>
            <a:r>
              <a:rPr lang="en-US" sz="950" dirty="0">
                <a:solidFill>
                  <a:srgbClr val="C8DFFE"/>
                </a:solidFill>
                <a:latin typeface="Calibri" pitchFamily="34" charset="0"/>
                <a:ea typeface="Calibri" pitchFamily="34" charset="-122"/>
                <a:cs typeface="Calibri" pitchFamily="34" charset="-120"/>
              </a:rPr>
              <a:t>Workspace PUT has no Zod schema — attacker writes crafted JSON to D1. That JSON is later embedded in AI system prompt. Two chained vectors.</a:t>
            </a:r>
            <a:endParaRPr lang="en-US" sz="950" dirty="0"/>
          </a:p>
        </p:txBody>
      </p:sp>
      <p:sp>
        <p:nvSpPr>
          <p:cNvPr id="22" name="Shape 20"/>
          <p:cNvSpPr/>
          <p:nvPr/>
        </p:nvSpPr>
        <p:spPr>
          <a:xfrm>
            <a:off x="8119872" y="2112264"/>
            <a:ext cx="685800" cy="237744"/>
          </a:xfrm>
          <a:prstGeom prst="rect">
            <a:avLst/>
          </a:prstGeom>
          <a:solidFill>
            <a:srgbClr val="E88A1A"/>
          </a:solidFill>
          <a:ln w="12700">
            <a:solidFill>
              <a:srgbClr val="E88A1A"/>
            </a:solidFill>
            <a:prstDash val="solid"/>
          </a:ln>
        </p:spPr>
      </p:sp>
      <p:sp>
        <p:nvSpPr>
          <p:cNvPr id="23" name="Text 21"/>
          <p:cNvSpPr/>
          <p:nvPr/>
        </p:nvSpPr>
        <p:spPr>
          <a:xfrm>
            <a:off x="8119872" y="2112264"/>
            <a:ext cx="6858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p>
        </p:txBody>
      </p:sp>
      <p:sp>
        <p:nvSpPr>
          <p:cNvPr id="24" name="Shape 22"/>
          <p:cNvSpPr/>
          <p:nvPr/>
        </p:nvSpPr>
        <p:spPr>
          <a:xfrm>
            <a:off x="274320" y="2560320"/>
            <a:ext cx="8595360" cy="566928"/>
          </a:xfrm>
          <a:prstGeom prst="rect">
            <a:avLst/>
          </a:prstGeom>
          <a:solidFill>
            <a:srgbClr val="152560"/>
          </a:solidFill>
          <a:ln w="12700">
            <a:solidFill>
              <a:srgbClr val="152560"/>
            </a:solidFill>
            <a:prstDash val="solid"/>
          </a:ln>
        </p:spPr>
      </p:sp>
      <p:sp>
        <p:nvSpPr>
          <p:cNvPr id="25" name="Shape 23"/>
          <p:cNvSpPr/>
          <p:nvPr/>
        </p:nvSpPr>
        <p:spPr>
          <a:xfrm>
            <a:off x="320040" y="2633472"/>
            <a:ext cx="329184" cy="329184"/>
          </a:xfrm>
          <a:prstGeom prst="rect">
            <a:avLst/>
          </a:prstGeom>
          <a:solidFill>
            <a:srgbClr val="E88A1A"/>
          </a:solidFill>
          <a:ln w="12700">
            <a:solidFill>
              <a:srgbClr val="E88A1A"/>
            </a:solidFill>
            <a:prstDash val="solid"/>
          </a:ln>
        </p:spPr>
      </p:sp>
      <p:sp>
        <p:nvSpPr>
          <p:cNvPr id="26" name="Text 24"/>
          <p:cNvSpPr/>
          <p:nvPr/>
        </p:nvSpPr>
        <p:spPr>
          <a:xfrm>
            <a:off x="320040" y="263347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p>
        </p:txBody>
      </p:sp>
      <p:sp>
        <p:nvSpPr>
          <p:cNvPr id="27" name="Text 25"/>
          <p:cNvSpPr/>
          <p:nvPr/>
        </p:nvSpPr>
        <p:spPr>
          <a:xfrm>
            <a:off x="694944" y="2651760"/>
            <a:ext cx="1051560" cy="256032"/>
          </a:xfrm>
          <a:prstGeom prst="rect">
            <a:avLst/>
          </a:prstGeom>
          <a:noFill/>
          <a:ln/>
        </p:spPr>
        <p:txBody>
          <a:bodyPr wrap="square" lIns="0" tIns="0" rIns="0" bIns="0" rtlCol="0" anchor="ctr"/>
          <a:lstStyle/>
          <a:p>
            <a:pPr indent="0" marL="0">
              <a:buNone/>
            </a:pPr>
            <a:r>
              <a:rPr lang="en-US" sz="1000" b="1" dirty="0">
                <a:solidFill>
                  <a:srgbClr val="C8DFFE"/>
                </a:solidFill>
                <a:latin typeface="Calibri" pitchFamily="34" charset="0"/>
                <a:ea typeface="Calibri" pitchFamily="34" charset="-122"/>
                <a:cs typeface="Calibri" pitchFamily="34" charset="-120"/>
              </a:rPr>
              <a:t>Repudiation</a:t>
            </a:r>
            <a:endParaRPr lang="en-US" sz="1000" dirty="0"/>
          </a:p>
        </p:txBody>
      </p:sp>
      <p:sp>
        <p:nvSpPr>
          <p:cNvPr id="28" name="Text 26"/>
          <p:cNvSpPr/>
          <p:nvPr/>
        </p:nvSpPr>
        <p:spPr>
          <a:xfrm>
            <a:off x="1783080" y="2615184"/>
            <a:ext cx="6263640" cy="475488"/>
          </a:xfrm>
          <a:prstGeom prst="rect">
            <a:avLst/>
          </a:prstGeom>
          <a:noFill/>
          <a:ln/>
        </p:spPr>
        <p:txBody>
          <a:bodyPr wrap="square" lIns="0" tIns="0" rIns="0" bIns="0" rtlCol="0" anchor="ctr"/>
          <a:lstStyle/>
          <a:p>
            <a:pPr indent="0" marL="0">
              <a:buNone/>
            </a:pPr>
            <a:r>
              <a:rPr lang="en-US" sz="950" dirty="0">
                <a:solidFill>
                  <a:srgbClr val="C8DFFE"/>
                </a:solidFill>
                <a:latin typeface="Calibri" pitchFamily="34" charset="0"/>
                <a:ea typeface="Calibri" pitchFamily="34" charset="-122"/>
                <a:cs typeface="Calibri" pitchFamily="34" charset="-120"/>
              </a:rPr>
              <a:t>AI audit log captures userId + timestamp + injection flag. No structured logging for auth failures, tier bypass attempts, or D1 save errors.</a:t>
            </a:r>
            <a:endParaRPr lang="en-US" sz="950" dirty="0"/>
          </a:p>
        </p:txBody>
      </p:sp>
      <p:sp>
        <p:nvSpPr>
          <p:cNvPr id="29" name="Shape 27"/>
          <p:cNvSpPr/>
          <p:nvPr/>
        </p:nvSpPr>
        <p:spPr>
          <a:xfrm>
            <a:off x="8119872" y="2706624"/>
            <a:ext cx="685800" cy="237744"/>
          </a:xfrm>
          <a:prstGeom prst="rect">
            <a:avLst/>
          </a:prstGeom>
          <a:solidFill>
            <a:srgbClr val="E88A1A"/>
          </a:solidFill>
          <a:ln w="12700">
            <a:solidFill>
              <a:srgbClr val="E88A1A"/>
            </a:solidFill>
            <a:prstDash val="solid"/>
          </a:ln>
        </p:spPr>
      </p:sp>
      <p:sp>
        <p:nvSpPr>
          <p:cNvPr id="30" name="Text 28"/>
          <p:cNvSpPr/>
          <p:nvPr/>
        </p:nvSpPr>
        <p:spPr>
          <a:xfrm>
            <a:off x="8119872" y="2706624"/>
            <a:ext cx="6858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31" name="Shape 29"/>
          <p:cNvSpPr/>
          <p:nvPr/>
        </p:nvSpPr>
        <p:spPr>
          <a:xfrm>
            <a:off x="274320" y="3154680"/>
            <a:ext cx="8595360" cy="566928"/>
          </a:xfrm>
          <a:prstGeom prst="rect">
            <a:avLst/>
          </a:prstGeom>
          <a:solidFill>
            <a:srgbClr val="0B1740"/>
          </a:solidFill>
          <a:ln w="12700">
            <a:solidFill>
              <a:srgbClr val="0B1740"/>
            </a:solidFill>
            <a:prstDash val="solid"/>
          </a:ln>
        </p:spPr>
      </p:sp>
      <p:sp>
        <p:nvSpPr>
          <p:cNvPr id="32" name="Shape 30"/>
          <p:cNvSpPr/>
          <p:nvPr/>
        </p:nvSpPr>
        <p:spPr>
          <a:xfrm>
            <a:off x="320040" y="3227832"/>
            <a:ext cx="329184" cy="329184"/>
          </a:xfrm>
          <a:prstGeom prst="rect">
            <a:avLst/>
          </a:prstGeom>
          <a:solidFill>
            <a:srgbClr val="E88A1A"/>
          </a:solidFill>
          <a:ln w="12700">
            <a:solidFill>
              <a:srgbClr val="E88A1A"/>
            </a:solidFill>
            <a:prstDash val="solid"/>
          </a:ln>
        </p:spPr>
      </p:sp>
      <p:sp>
        <p:nvSpPr>
          <p:cNvPr id="33" name="Text 31"/>
          <p:cNvSpPr/>
          <p:nvPr/>
        </p:nvSpPr>
        <p:spPr>
          <a:xfrm>
            <a:off x="320040" y="32278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34" name="Text 32"/>
          <p:cNvSpPr/>
          <p:nvPr/>
        </p:nvSpPr>
        <p:spPr>
          <a:xfrm>
            <a:off x="694944" y="3246120"/>
            <a:ext cx="1051560" cy="256032"/>
          </a:xfrm>
          <a:prstGeom prst="rect">
            <a:avLst/>
          </a:prstGeom>
          <a:noFill/>
          <a:ln/>
        </p:spPr>
        <p:txBody>
          <a:bodyPr wrap="square" lIns="0" tIns="0" rIns="0" bIns="0" rtlCol="0" anchor="ctr"/>
          <a:lstStyle/>
          <a:p>
            <a:pPr indent="0" marL="0">
              <a:buNone/>
            </a:pPr>
            <a:r>
              <a:rPr lang="en-US" sz="1000" b="1" dirty="0">
                <a:solidFill>
                  <a:srgbClr val="C8DFFE"/>
                </a:solidFill>
                <a:latin typeface="Calibri" pitchFamily="34" charset="0"/>
                <a:ea typeface="Calibri" pitchFamily="34" charset="-122"/>
                <a:cs typeface="Calibri" pitchFamily="34" charset="-120"/>
              </a:rPr>
              <a:t>Info Disclosure</a:t>
            </a:r>
            <a:endParaRPr lang="en-US" sz="1000" dirty="0"/>
          </a:p>
        </p:txBody>
      </p:sp>
      <p:sp>
        <p:nvSpPr>
          <p:cNvPr id="35" name="Text 33"/>
          <p:cNvSpPr/>
          <p:nvPr/>
        </p:nvSpPr>
        <p:spPr>
          <a:xfrm>
            <a:off x="1783080" y="3209544"/>
            <a:ext cx="6263640" cy="475488"/>
          </a:xfrm>
          <a:prstGeom prst="rect">
            <a:avLst/>
          </a:prstGeom>
          <a:noFill/>
          <a:ln/>
        </p:spPr>
        <p:txBody>
          <a:bodyPr wrap="square" lIns="0" tIns="0" rIns="0" bIns="0" rtlCol="0" anchor="ctr"/>
          <a:lstStyle/>
          <a:p>
            <a:pPr indent="0" marL="0">
              <a:buNone/>
            </a:pPr>
            <a:r>
              <a:rPr lang="en-US" sz="950" dirty="0">
                <a:solidFill>
                  <a:srgbClr val="C8DFFE"/>
                </a:solidFill>
                <a:latin typeface="Calibri" pitchFamily="34" charset="0"/>
                <a:ea typeface="Calibri" pitchFamily="34" charset="-122"/>
                <a:cs typeface="Calibri" pitchFamily="34" charset="-120"/>
              </a:rPr>
              <a:t>Error messages from NVIDIA API forwarded to client. Prisma logs queries unconditionally. D1 database UUID in wrangler.jsonc (acceptable for CF, not for public repos).</a:t>
            </a:r>
            <a:endParaRPr lang="en-US" sz="950" dirty="0"/>
          </a:p>
        </p:txBody>
      </p:sp>
      <p:sp>
        <p:nvSpPr>
          <p:cNvPr id="36" name="Shape 34"/>
          <p:cNvSpPr/>
          <p:nvPr/>
        </p:nvSpPr>
        <p:spPr>
          <a:xfrm>
            <a:off x="8119872" y="3300984"/>
            <a:ext cx="685800" cy="237744"/>
          </a:xfrm>
          <a:prstGeom prst="rect">
            <a:avLst/>
          </a:prstGeom>
          <a:solidFill>
            <a:srgbClr val="E88A1A"/>
          </a:solidFill>
          <a:ln w="12700">
            <a:solidFill>
              <a:srgbClr val="E88A1A"/>
            </a:solidFill>
            <a:prstDash val="solid"/>
          </a:ln>
        </p:spPr>
      </p:sp>
      <p:sp>
        <p:nvSpPr>
          <p:cNvPr id="37" name="Text 35"/>
          <p:cNvSpPr/>
          <p:nvPr/>
        </p:nvSpPr>
        <p:spPr>
          <a:xfrm>
            <a:off x="8119872" y="3300984"/>
            <a:ext cx="6858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p>
        </p:txBody>
      </p:sp>
      <p:sp>
        <p:nvSpPr>
          <p:cNvPr id="38" name="Shape 36"/>
          <p:cNvSpPr/>
          <p:nvPr/>
        </p:nvSpPr>
        <p:spPr>
          <a:xfrm>
            <a:off x="274320" y="3749040"/>
            <a:ext cx="8595360" cy="566928"/>
          </a:xfrm>
          <a:prstGeom prst="rect">
            <a:avLst/>
          </a:prstGeom>
          <a:solidFill>
            <a:srgbClr val="152560"/>
          </a:solidFill>
          <a:ln w="12700">
            <a:solidFill>
              <a:srgbClr val="152560"/>
            </a:solidFill>
            <a:prstDash val="solid"/>
          </a:ln>
        </p:spPr>
      </p:sp>
      <p:sp>
        <p:nvSpPr>
          <p:cNvPr id="39" name="Shape 37"/>
          <p:cNvSpPr/>
          <p:nvPr/>
        </p:nvSpPr>
        <p:spPr>
          <a:xfrm>
            <a:off x="320040" y="3822192"/>
            <a:ext cx="329184" cy="329184"/>
          </a:xfrm>
          <a:prstGeom prst="rect">
            <a:avLst/>
          </a:prstGeom>
          <a:solidFill>
            <a:srgbClr val="D93025"/>
          </a:solidFill>
          <a:ln w="12700">
            <a:solidFill>
              <a:srgbClr val="D93025"/>
            </a:solidFill>
            <a:prstDash val="solid"/>
          </a:ln>
        </p:spPr>
      </p:sp>
      <p:sp>
        <p:nvSpPr>
          <p:cNvPr id="40" name="Text 38"/>
          <p:cNvSpPr/>
          <p:nvPr/>
        </p:nvSpPr>
        <p:spPr>
          <a:xfrm>
            <a:off x="320040" y="38221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41" name="Text 39"/>
          <p:cNvSpPr/>
          <p:nvPr/>
        </p:nvSpPr>
        <p:spPr>
          <a:xfrm>
            <a:off x="694944" y="3840480"/>
            <a:ext cx="1051560" cy="256032"/>
          </a:xfrm>
          <a:prstGeom prst="rect">
            <a:avLst/>
          </a:prstGeom>
          <a:noFill/>
          <a:ln/>
        </p:spPr>
        <p:txBody>
          <a:bodyPr wrap="square" lIns="0" tIns="0" rIns="0" bIns="0" rtlCol="0" anchor="ctr"/>
          <a:lstStyle/>
          <a:p>
            <a:pPr indent="0" marL="0">
              <a:buNone/>
            </a:pPr>
            <a:r>
              <a:rPr lang="en-US" sz="1000" b="1" dirty="0">
                <a:solidFill>
                  <a:srgbClr val="C8DFFE"/>
                </a:solidFill>
                <a:latin typeface="Calibri" pitchFamily="34" charset="0"/>
                <a:ea typeface="Calibri" pitchFamily="34" charset="-122"/>
                <a:cs typeface="Calibri" pitchFamily="34" charset="-120"/>
              </a:rPr>
              <a:t>Denial of Service</a:t>
            </a:r>
            <a:endParaRPr lang="en-US" sz="1000" dirty="0"/>
          </a:p>
        </p:txBody>
      </p:sp>
      <p:sp>
        <p:nvSpPr>
          <p:cNvPr id="42" name="Text 40"/>
          <p:cNvSpPr/>
          <p:nvPr/>
        </p:nvSpPr>
        <p:spPr>
          <a:xfrm>
            <a:off x="1783080" y="3803904"/>
            <a:ext cx="6263640" cy="475488"/>
          </a:xfrm>
          <a:prstGeom prst="rect">
            <a:avLst/>
          </a:prstGeom>
          <a:noFill/>
          <a:ln/>
        </p:spPr>
        <p:txBody>
          <a:bodyPr wrap="square" lIns="0" tIns="0" rIns="0" bIns="0" rtlCol="0" anchor="ctr"/>
          <a:lstStyle/>
          <a:p>
            <a:pPr indent="0" marL="0">
              <a:buNone/>
            </a:pPr>
            <a:r>
              <a:rPr lang="en-US" sz="950" dirty="0">
                <a:solidFill>
                  <a:srgbClr val="C8DFFE"/>
                </a:solidFill>
                <a:latin typeface="Calibri" pitchFamily="34" charset="0"/>
                <a:ea typeface="Calibri" pitchFamily="34" charset="-122"/>
                <a:cs typeface="Calibri" pitchFamily="34" charset="-120"/>
              </a:rPr>
              <a:t>Rate limiter ineffective on edge (in-memory). Unbounded message history allows large token payload attacks. Unbounded symbol count on market data API.</a:t>
            </a:r>
            <a:endParaRPr lang="en-US" sz="950" dirty="0"/>
          </a:p>
        </p:txBody>
      </p:sp>
      <p:sp>
        <p:nvSpPr>
          <p:cNvPr id="43" name="Shape 41"/>
          <p:cNvSpPr/>
          <p:nvPr/>
        </p:nvSpPr>
        <p:spPr>
          <a:xfrm>
            <a:off x="8119872" y="3895344"/>
            <a:ext cx="685800" cy="237744"/>
          </a:xfrm>
          <a:prstGeom prst="rect">
            <a:avLst/>
          </a:prstGeom>
          <a:solidFill>
            <a:srgbClr val="D93025"/>
          </a:solidFill>
          <a:ln w="12700">
            <a:solidFill>
              <a:srgbClr val="D93025"/>
            </a:solidFill>
            <a:prstDash val="solid"/>
          </a:ln>
        </p:spPr>
      </p:sp>
      <p:sp>
        <p:nvSpPr>
          <p:cNvPr id="44" name="Text 42"/>
          <p:cNvSpPr/>
          <p:nvPr/>
        </p:nvSpPr>
        <p:spPr>
          <a:xfrm>
            <a:off x="8119872" y="3895344"/>
            <a:ext cx="6858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p>
        </p:txBody>
      </p:sp>
      <p:sp>
        <p:nvSpPr>
          <p:cNvPr id="45" name="Shape 43"/>
          <p:cNvSpPr/>
          <p:nvPr/>
        </p:nvSpPr>
        <p:spPr>
          <a:xfrm>
            <a:off x="274320" y="4343400"/>
            <a:ext cx="8595360" cy="566928"/>
          </a:xfrm>
          <a:prstGeom prst="rect">
            <a:avLst/>
          </a:prstGeom>
          <a:solidFill>
            <a:srgbClr val="0B1740"/>
          </a:solidFill>
          <a:ln w="12700">
            <a:solidFill>
              <a:srgbClr val="0B1740"/>
            </a:solidFill>
            <a:prstDash val="solid"/>
          </a:ln>
        </p:spPr>
      </p:sp>
      <p:sp>
        <p:nvSpPr>
          <p:cNvPr id="46" name="Shape 44"/>
          <p:cNvSpPr/>
          <p:nvPr/>
        </p:nvSpPr>
        <p:spPr>
          <a:xfrm>
            <a:off x="320040" y="4416552"/>
            <a:ext cx="329184" cy="329184"/>
          </a:xfrm>
          <a:prstGeom prst="rect">
            <a:avLst/>
          </a:prstGeom>
          <a:solidFill>
            <a:srgbClr val="E88A1A"/>
          </a:solidFill>
          <a:ln w="12700">
            <a:solidFill>
              <a:srgbClr val="E88A1A"/>
            </a:solidFill>
            <a:prstDash val="solid"/>
          </a:ln>
        </p:spPr>
      </p:sp>
      <p:sp>
        <p:nvSpPr>
          <p:cNvPr id="47" name="Text 45"/>
          <p:cNvSpPr/>
          <p:nvPr/>
        </p:nvSpPr>
        <p:spPr>
          <a:xfrm>
            <a:off x="320040" y="44165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48" name="Text 46"/>
          <p:cNvSpPr/>
          <p:nvPr/>
        </p:nvSpPr>
        <p:spPr>
          <a:xfrm>
            <a:off x="694944" y="4434840"/>
            <a:ext cx="1051560" cy="256032"/>
          </a:xfrm>
          <a:prstGeom prst="rect">
            <a:avLst/>
          </a:prstGeom>
          <a:noFill/>
          <a:ln/>
        </p:spPr>
        <p:txBody>
          <a:bodyPr wrap="square" lIns="0" tIns="0" rIns="0" bIns="0" rtlCol="0" anchor="ctr"/>
          <a:lstStyle/>
          <a:p>
            <a:pPr indent="0" marL="0">
              <a:buNone/>
            </a:pPr>
            <a:r>
              <a:rPr lang="en-US" sz="1000" b="1" dirty="0">
                <a:solidFill>
                  <a:srgbClr val="C8DFFE"/>
                </a:solidFill>
                <a:latin typeface="Calibri" pitchFamily="34" charset="0"/>
                <a:ea typeface="Calibri" pitchFamily="34" charset="-122"/>
                <a:cs typeface="Calibri" pitchFamily="34" charset="-120"/>
              </a:rPr>
              <a:t>Elevation of Privilege</a:t>
            </a:r>
            <a:endParaRPr lang="en-US" sz="1000" dirty="0"/>
          </a:p>
        </p:txBody>
      </p:sp>
      <p:sp>
        <p:nvSpPr>
          <p:cNvPr id="49" name="Text 47"/>
          <p:cNvSpPr/>
          <p:nvPr/>
        </p:nvSpPr>
        <p:spPr>
          <a:xfrm>
            <a:off x="1783080" y="4398264"/>
            <a:ext cx="6263640" cy="475488"/>
          </a:xfrm>
          <a:prstGeom prst="rect">
            <a:avLst/>
          </a:prstGeom>
          <a:noFill/>
          <a:ln/>
        </p:spPr>
        <p:txBody>
          <a:bodyPr wrap="square" lIns="0" tIns="0" rIns="0" bIns="0" rtlCol="0" anchor="ctr"/>
          <a:lstStyle/>
          <a:p>
            <a:pPr indent="0" marL="0">
              <a:buNone/>
            </a:pPr>
            <a:r>
              <a:rPr lang="en-US" sz="950" dirty="0">
                <a:solidFill>
                  <a:srgbClr val="C8DFFE"/>
                </a:solidFill>
                <a:latin typeface="Calibri" pitchFamily="34" charset="0"/>
                <a:ea typeface="Calibri" pitchFamily="34" charset="-122"/>
                <a:cs typeface="Calibri" pitchFamily="34" charset="-120"/>
              </a:rPr>
              <a:t>requireTier() is server-side and untampered. Trial activation has a concurrent-request race condition allowing free→pro escalation without payment.</a:t>
            </a:r>
            <a:endParaRPr lang="en-US" sz="950" dirty="0"/>
          </a:p>
        </p:txBody>
      </p:sp>
      <p:sp>
        <p:nvSpPr>
          <p:cNvPr id="50" name="Shape 48"/>
          <p:cNvSpPr/>
          <p:nvPr/>
        </p:nvSpPr>
        <p:spPr>
          <a:xfrm>
            <a:off x="8119872" y="4489704"/>
            <a:ext cx="685800" cy="237744"/>
          </a:xfrm>
          <a:prstGeom prst="rect">
            <a:avLst/>
          </a:prstGeom>
          <a:solidFill>
            <a:srgbClr val="E88A1A"/>
          </a:solidFill>
          <a:ln w="12700">
            <a:solidFill>
              <a:srgbClr val="E88A1A"/>
            </a:solidFill>
            <a:prstDash val="solid"/>
          </a:ln>
        </p:spPr>
      </p:sp>
      <p:sp>
        <p:nvSpPr>
          <p:cNvPr id="51" name="Text 49"/>
          <p:cNvSpPr/>
          <p:nvPr/>
        </p:nvSpPr>
        <p:spPr>
          <a:xfrm>
            <a:off x="8119872" y="4489704"/>
            <a:ext cx="6858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B1740"/>
          </a:solidFill>
          <a:ln w="12700">
            <a:solidFill>
              <a:srgbClr val="0B174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2400" b="1" dirty="0">
                <a:solidFill>
                  <a:srgbClr val="0B1740"/>
                </a:solidFill>
                <a:latin typeface="Calibri" pitchFamily="34" charset="0"/>
                <a:ea typeface="Calibri" pitchFamily="34" charset="-122"/>
                <a:cs typeface="Calibri" pitchFamily="34" charset="-120"/>
              </a:rPr>
              <a:t>Role 3: Security Engineer — Supply Chain Risk Assessment</a:t>
            </a:r>
            <a:endParaRPr lang="en-US" sz="2400" dirty="0"/>
          </a:p>
        </p:txBody>
      </p:sp>
      <p:sp>
        <p:nvSpPr>
          <p:cNvPr id="4" name="Text 2"/>
          <p:cNvSpPr/>
          <p:nvPr/>
        </p:nvSpPr>
        <p:spPr>
          <a:xfrm>
            <a:off x="457200" y="713232"/>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Dependency audit across production npm packages</a:t>
            </a:r>
            <a:endParaRPr lang="en-US" sz="1100" dirty="0"/>
          </a:p>
        </p:txBody>
      </p:sp>
      <p:sp>
        <p:nvSpPr>
          <p:cNvPr id="5" name="Shape 3"/>
          <p:cNvSpPr/>
          <p:nvPr/>
        </p:nvSpPr>
        <p:spPr>
          <a:xfrm>
            <a:off x="0" y="5047488"/>
            <a:ext cx="9144000" cy="91440"/>
          </a:xfrm>
          <a:prstGeom prst="rect">
            <a:avLst/>
          </a:prstGeom>
          <a:solidFill>
            <a:srgbClr val="0B1740"/>
          </a:solidFill>
          <a:ln w="12700">
            <a:solidFill>
              <a:srgbClr val="0B1740"/>
            </a:solidFill>
            <a:prstDash val="solid"/>
          </a:ln>
        </p:spPr>
      </p:sp>
      <p:sp>
        <p:nvSpPr>
          <p:cNvPr id="6" name="Shape 4"/>
          <p:cNvSpPr/>
          <p:nvPr/>
        </p:nvSpPr>
        <p:spPr>
          <a:xfrm>
            <a:off x="320040" y="1078992"/>
            <a:ext cx="8503920" cy="1170432"/>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7" name="Shape 5"/>
          <p:cNvSpPr/>
          <p:nvPr/>
        </p:nvSpPr>
        <p:spPr>
          <a:xfrm>
            <a:off x="320040" y="1078992"/>
            <a:ext cx="64008" cy="1170432"/>
          </a:xfrm>
          <a:prstGeom prst="rect">
            <a:avLst/>
          </a:prstGeom>
          <a:solidFill>
            <a:srgbClr val="D93025"/>
          </a:solidFill>
          <a:ln w="12700">
            <a:solidFill>
              <a:srgbClr val="D93025"/>
            </a:solidFill>
            <a:prstDash val="solid"/>
          </a:ln>
        </p:spPr>
      </p:sp>
      <p:sp>
        <p:nvSpPr>
          <p:cNvPr id="8" name="Shape 6"/>
          <p:cNvSpPr/>
          <p:nvPr/>
        </p:nvSpPr>
        <p:spPr>
          <a:xfrm>
            <a:off x="457200" y="1170432"/>
            <a:ext cx="960120" cy="201168"/>
          </a:xfrm>
          <a:prstGeom prst="rect">
            <a:avLst>
              <a:gd name="adj" fmla="val 18182"/>
            </a:avLst>
          </a:prstGeom>
          <a:solidFill>
            <a:srgbClr val="D93025"/>
          </a:solidFill>
          <a:ln w="12700">
            <a:solidFill>
              <a:srgbClr val="D93025"/>
            </a:solidFill>
            <a:prstDash val="solid"/>
          </a:ln>
        </p:spPr>
      </p:sp>
      <p:sp>
        <p:nvSpPr>
          <p:cNvPr id="9" name="Text 7"/>
          <p:cNvSpPr/>
          <p:nvPr/>
        </p:nvSpPr>
        <p:spPr>
          <a:xfrm>
            <a:off x="457200" y="1170432"/>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10" name="Text 8"/>
          <p:cNvSpPr/>
          <p:nvPr/>
        </p:nvSpPr>
        <p:spPr>
          <a:xfrm>
            <a:off x="1554480" y="1152144"/>
            <a:ext cx="3200400" cy="274320"/>
          </a:xfrm>
          <a:prstGeom prst="rect">
            <a:avLst/>
          </a:prstGeom>
          <a:noFill/>
          <a:ln/>
        </p:spPr>
        <p:txBody>
          <a:bodyPr wrap="square" lIns="0" tIns="0" rIns="0" bIns="0" rtlCol="0" anchor="ctr"/>
          <a:lstStyle/>
          <a:p>
            <a:pPr indent="0" marL="0">
              <a:buNone/>
            </a:pPr>
            <a:r>
              <a:rPr lang="en-US" sz="1300" b="1" dirty="0">
                <a:solidFill>
                  <a:srgbClr val="0B1740"/>
                </a:solidFill>
                <a:latin typeface="Calibri" pitchFamily="34" charset="0"/>
                <a:ea typeface="Calibri" pitchFamily="34" charset="-122"/>
                <a:cs typeface="Calibri" pitchFamily="34" charset="-120"/>
              </a:rPr>
              <a:t>xlsx@0.18.5</a:t>
            </a:r>
            <a:endParaRPr lang="en-US" sz="1300" dirty="0"/>
          </a:p>
        </p:txBody>
      </p:sp>
      <p:sp>
        <p:nvSpPr>
          <p:cNvPr id="11" name="Text 9"/>
          <p:cNvSpPr/>
          <p:nvPr/>
        </p:nvSpPr>
        <p:spPr>
          <a:xfrm>
            <a:off x="457200" y="1444752"/>
            <a:ext cx="822960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FINDING: Known prototype pollution vulnerability. The xlsx package has documented CVEs in versions below 0.20.x. This can allow an attacker to manipulate JavaScript object prototypes via crafted spreadsheet files. Immediate upgrade required before launch.</a:t>
            </a:r>
            <a:endParaRPr lang="en-US" sz="1000" dirty="0"/>
          </a:p>
        </p:txBody>
      </p:sp>
      <p:sp>
        <p:nvSpPr>
          <p:cNvPr id="12" name="Text 10"/>
          <p:cNvSpPr/>
          <p:nvPr/>
        </p:nvSpPr>
        <p:spPr>
          <a:xfrm>
            <a:off x="457200" y="1865376"/>
            <a:ext cx="8229600" cy="292608"/>
          </a:xfrm>
          <a:prstGeom prst="rect">
            <a:avLst/>
          </a:prstGeom>
          <a:noFill/>
          <a:ln/>
        </p:spPr>
        <p:txBody>
          <a:bodyPr wrap="square" lIns="0" tIns="0" rIns="0" bIns="0" rtlCol="0" anchor="ctr"/>
          <a:lstStyle/>
          <a:p>
            <a:pPr indent="0" marL="0">
              <a:buNone/>
            </a:pPr>
            <a:r>
              <a:rPr lang="en-US" sz="1000" b="1" dirty="0">
                <a:solidFill>
                  <a:srgbClr val="0B1740"/>
                </a:solidFill>
                <a:latin typeface="Calibri" pitchFamily="34" charset="0"/>
                <a:ea typeface="Calibri" pitchFamily="34" charset="-122"/>
                <a:cs typeface="Calibri" pitchFamily="34" charset="-120"/>
              </a:rPr>
              <a:t>FIX: </a:t>
            </a:r>
            <a:pPr indent="0" marL="0">
              <a:buNone/>
            </a:pPr>
            <a:r>
              <a:rPr lang="en-US" sz="1000" dirty="0">
                <a:solidFill>
                  <a:srgbClr val="64748B"/>
                </a:solidFill>
                <a:latin typeface="Calibri" pitchFamily="34" charset="0"/>
                <a:ea typeface="Calibri" pitchFamily="34" charset="-122"/>
                <a:cs typeface="Calibri" pitchFamily="34" charset="-120"/>
              </a:rPr>
              <a:t>Upgrade to xlsx@0.20.x or replace with exceljs which has no known CVEs.</a:t>
            </a:r>
            <a:endParaRPr lang="en-US" sz="1000" dirty="0"/>
          </a:p>
        </p:txBody>
      </p:sp>
      <p:sp>
        <p:nvSpPr>
          <p:cNvPr id="13" name="Shape 11"/>
          <p:cNvSpPr/>
          <p:nvPr/>
        </p:nvSpPr>
        <p:spPr>
          <a:xfrm>
            <a:off x="320040" y="2359152"/>
            <a:ext cx="8503920" cy="1170432"/>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320040" y="2359152"/>
            <a:ext cx="64008" cy="1170432"/>
          </a:xfrm>
          <a:prstGeom prst="rect">
            <a:avLst/>
          </a:prstGeom>
          <a:solidFill>
            <a:srgbClr val="E88A1A"/>
          </a:solidFill>
          <a:ln w="12700">
            <a:solidFill>
              <a:srgbClr val="E88A1A"/>
            </a:solidFill>
            <a:prstDash val="solid"/>
          </a:ln>
        </p:spPr>
      </p:sp>
      <p:sp>
        <p:nvSpPr>
          <p:cNvPr id="15" name="Shape 13"/>
          <p:cNvSpPr/>
          <p:nvPr/>
        </p:nvSpPr>
        <p:spPr>
          <a:xfrm>
            <a:off x="457200" y="2450592"/>
            <a:ext cx="960120" cy="201168"/>
          </a:xfrm>
          <a:prstGeom prst="rect">
            <a:avLst>
              <a:gd name="adj" fmla="val 18182"/>
            </a:avLst>
          </a:prstGeom>
          <a:solidFill>
            <a:srgbClr val="E88A1A"/>
          </a:solidFill>
          <a:ln w="12700">
            <a:solidFill>
              <a:srgbClr val="E88A1A"/>
            </a:solidFill>
            <a:prstDash val="solid"/>
          </a:ln>
        </p:spPr>
      </p:sp>
      <p:sp>
        <p:nvSpPr>
          <p:cNvPr id="16" name="Text 14"/>
          <p:cNvSpPr/>
          <p:nvPr/>
        </p:nvSpPr>
        <p:spPr>
          <a:xfrm>
            <a:off x="457200" y="2450592"/>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7" name="Text 15"/>
          <p:cNvSpPr/>
          <p:nvPr/>
        </p:nvSpPr>
        <p:spPr>
          <a:xfrm>
            <a:off x="1554480" y="2432304"/>
            <a:ext cx="3200400" cy="274320"/>
          </a:xfrm>
          <a:prstGeom prst="rect">
            <a:avLst/>
          </a:prstGeom>
          <a:noFill/>
          <a:ln/>
        </p:spPr>
        <p:txBody>
          <a:bodyPr wrap="square" lIns="0" tIns="0" rIns="0" bIns="0" rtlCol="0" anchor="ctr"/>
          <a:lstStyle/>
          <a:p>
            <a:pPr indent="0" marL="0">
              <a:buNone/>
            </a:pPr>
            <a:r>
              <a:rPr lang="en-US" sz="1300" b="1" dirty="0">
                <a:solidFill>
                  <a:srgbClr val="0B1740"/>
                </a:solidFill>
                <a:latin typeface="Calibri" pitchFamily="34" charset="0"/>
                <a:ea typeface="Calibri" pitchFamily="34" charset="-122"/>
                <a:cs typeface="Calibri" pitchFamily="34" charset="-120"/>
              </a:rPr>
              <a:t>next-auth@4.24.11</a:t>
            </a:r>
            <a:endParaRPr lang="en-US" sz="1300" dirty="0"/>
          </a:p>
        </p:txBody>
      </p:sp>
      <p:sp>
        <p:nvSpPr>
          <p:cNvPr id="18" name="Text 16"/>
          <p:cNvSpPr/>
          <p:nvPr/>
        </p:nvSpPr>
        <p:spPr>
          <a:xfrm>
            <a:off x="457200" y="2724912"/>
            <a:ext cx="822960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FINDING: This project uses Clerk for authentication (the correct and intended system) but next-auth is also listed in package.json as a dependency. Running two auth libraries simultaneously creates confusion in session handling and an unnecessary attack surface.</a:t>
            </a:r>
            <a:endParaRPr lang="en-US" sz="1000" dirty="0"/>
          </a:p>
        </p:txBody>
      </p:sp>
      <p:sp>
        <p:nvSpPr>
          <p:cNvPr id="19" name="Text 17"/>
          <p:cNvSpPr/>
          <p:nvPr/>
        </p:nvSpPr>
        <p:spPr>
          <a:xfrm>
            <a:off x="457200" y="3145536"/>
            <a:ext cx="8229600" cy="292608"/>
          </a:xfrm>
          <a:prstGeom prst="rect">
            <a:avLst/>
          </a:prstGeom>
          <a:noFill/>
          <a:ln/>
        </p:spPr>
        <p:txBody>
          <a:bodyPr wrap="square" lIns="0" tIns="0" rIns="0" bIns="0" rtlCol="0" anchor="ctr"/>
          <a:lstStyle/>
          <a:p>
            <a:pPr indent="0" marL="0">
              <a:buNone/>
            </a:pPr>
            <a:r>
              <a:rPr lang="en-US" sz="1000" b="1" dirty="0">
                <a:solidFill>
                  <a:srgbClr val="0B1740"/>
                </a:solidFill>
                <a:latin typeface="Calibri" pitchFamily="34" charset="0"/>
                <a:ea typeface="Calibri" pitchFamily="34" charset="-122"/>
                <a:cs typeface="Calibri" pitchFamily="34" charset="-120"/>
              </a:rPr>
              <a:t>FIX: </a:t>
            </a:r>
            <a:pPr indent="0" marL="0">
              <a:buNone/>
            </a:pPr>
            <a:r>
              <a:rPr lang="en-US" sz="1000" dirty="0">
                <a:solidFill>
                  <a:srgbClr val="64748B"/>
                </a:solidFill>
                <a:latin typeface="Calibri" pitchFamily="34" charset="0"/>
                <a:ea typeface="Calibri" pitchFamily="34" charset="-122"/>
                <a:cs typeface="Calibri" pitchFamily="34" charset="-120"/>
              </a:rPr>
              <a:t>Remove next-auth from package.json if it is not actively used. Maintain Clerk as the sole auth provider.</a:t>
            </a:r>
            <a:endParaRPr lang="en-US" sz="1000" dirty="0"/>
          </a:p>
        </p:txBody>
      </p:sp>
      <p:sp>
        <p:nvSpPr>
          <p:cNvPr id="20" name="Shape 18"/>
          <p:cNvSpPr/>
          <p:nvPr/>
        </p:nvSpPr>
        <p:spPr>
          <a:xfrm>
            <a:off x="320040" y="3639312"/>
            <a:ext cx="8503920" cy="1170432"/>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320040" y="3639312"/>
            <a:ext cx="64008" cy="1170432"/>
          </a:xfrm>
          <a:prstGeom prst="rect">
            <a:avLst/>
          </a:prstGeom>
          <a:solidFill>
            <a:srgbClr val="0F7B8C"/>
          </a:solidFill>
          <a:ln w="12700">
            <a:solidFill>
              <a:srgbClr val="0F7B8C"/>
            </a:solidFill>
            <a:prstDash val="solid"/>
          </a:ln>
        </p:spPr>
      </p:sp>
      <p:sp>
        <p:nvSpPr>
          <p:cNvPr id="22" name="Shape 20"/>
          <p:cNvSpPr/>
          <p:nvPr/>
        </p:nvSpPr>
        <p:spPr>
          <a:xfrm>
            <a:off x="457200" y="3730752"/>
            <a:ext cx="960120" cy="201168"/>
          </a:xfrm>
          <a:prstGeom prst="rect">
            <a:avLst>
              <a:gd name="adj" fmla="val 18182"/>
            </a:avLst>
          </a:prstGeom>
          <a:solidFill>
            <a:srgbClr val="0F7B8C"/>
          </a:solidFill>
          <a:ln w="12700">
            <a:solidFill>
              <a:srgbClr val="0F7B8C"/>
            </a:solidFill>
            <a:prstDash val="solid"/>
          </a:ln>
        </p:spPr>
      </p:sp>
      <p:sp>
        <p:nvSpPr>
          <p:cNvPr id="23" name="Text 21"/>
          <p:cNvSpPr/>
          <p:nvPr/>
        </p:nvSpPr>
        <p:spPr>
          <a:xfrm>
            <a:off x="457200" y="3730752"/>
            <a:ext cx="9601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24" name="Text 22"/>
          <p:cNvSpPr/>
          <p:nvPr/>
        </p:nvSpPr>
        <p:spPr>
          <a:xfrm>
            <a:off x="1554480" y="3712464"/>
            <a:ext cx="3200400" cy="274320"/>
          </a:xfrm>
          <a:prstGeom prst="rect">
            <a:avLst/>
          </a:prstGeom>
          <a:noFill/>
          <a:ln/>
        </p:spPr>
        <p:txBody>
          <a:bodyPr wrap="square" lIns="0" tIns="0" rIns="0" bIns="0" rtlCol="0" anchor="ctr"/>
          <a:lstStyle/>
          <a:p>
            <a:pPr indent="0" marL="0">
              <a:buNone/>
            </a:pPr>
            <a:r>
              <a:rPr lang="en-US" sz="1300" b="1" dirty="0">
                <a:solidFill>
                  <a:srgbClr val="0B1740"/>
                </a:solidFill>
                <a:latin typeface="Calibri" pitchFamily="34" charset="0"/>
                <a:ea typeface="Calibri" pitchFamily="34" charset="-122"/>
                <a:cs typeface="Calibri" pitchFamily="34" charset="-120"/>
              </a:rPr>
              <a:t>z-ai-web-dev-sdk@0.0.17</a:t>
            </a:r>
            <a:endParaRPr lang="en-US" sz="1300" dirty="0"/>
          </a:p>
        </p:txBody>
      </p:sp>
      <p:sp>
        <p:nvSpPr>
          <p:cNvPr id="25" name="Text 23"/>
          <p:cNvSpPr/>
          <p:nvPr/>
        </p:nvSpPr>
        <p:spPr>
          <a:xfrm>
            <a:off x="457200" y="4005072"/>
            <a:ext cx="822960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FINDING: Version 0.0.17 signals pre-alpha / development preview status. Used as a fallback AI provider when NVIDIA_API_KEY is not configured. Breaking API changes or removal from the registry would silently disable fallback portfolio analysis.</a:t>
            </a:r>
            <a:endParaRPr lang="en-US" sz="1000" dirty="0"/>
          </a:p>
        </p:txBody>
      </p:sp>
      <p:sp>
        <p:nvSpPr>
          <p:cNvPr id="26" name="Text 24"/>
          <p:cNvSpPr/>
          <p:nvPr/>
        </p:nvSpPr>
        <p:spPr>
          <a:xfrm>
            <a:off x="457200" y="4425696"/>
            <a:ext cx="8229600" cy="292608"/>
          </a:xfrm>
          <a:prstGeom prst="rect">
            <a:avLst/>
          </a:prstGeom>
          <a:noFill/>
          <a:ln/>
        </p:spPr>
        <p:txBody>
          <a:bodyPr wrap="square" lIns="0" tIns="0" rIns="0" bIns="0" rtlCol="0" anchor="ctr"/>
          <a:lstStyle/>
          <a:p>
            <a:pPr indent="0" marL="0">
              <a:buNone/>
            </a:pPr>
            <a:r>
              <a:rPr lang="en-US" sz="1000" b="1" dirty="0">
                <a:solidFill>
                  <a:srgbClr val="0B1740"/>
                </a:solidFill>
                <a:latin typeface="Calibri" pitchFamily="34" charset="0"/>
                <a:ea typeface="Calibri" pitchFamily="34" charset="-122"/>
                <a:cs typeface="Calibri" pitchFamily="34" charset="-120"/>
              </a:rPr>
              <a:t>FIX: </a:t>
            </a:r>
            <a:pPr indent="0" marL="0">
              <a:buNone/>
            </a:pPr>
            <a:r>
              <a:rPr lang="en-US" sz="1000" dirty="0">
                <a:solidFill>
                  <a:srgbClr val="64748B"/>
                </a:solidFill>
                <a:latin typeface="Calibri" pitchFamily="34" charset="0"/>
                <a:ea typeface="Calibri" pitchFamily="34" charset="-122"/>
                <a:cs typeface="Calibri" pitchFamily="34" charset="-120"/>
              </a:rPr>
              <a:t>Pin the version, monitor the package for stability, and add health checks for the fallback AI path.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Prioritized Remediation Roadmap</a:t>
            </a:r>
            <a:endParaRPr lang="en-US" sz="2600" dirty="0"/>
          </a:p>
        </p:txBody>
      </p:sp>
      <p:sp>
        <p:nvSpPr>
          <p:cNvPr id="4" name="Text 2"/>
          <p:cNvSpPr/>
          <p:nvPr/>
        </p:nvSpPr>
        <p:spPr>
          <a:xfrm>
            <a:off x="457200" y="768096"/>
            <a:ext cx="8229600" cy="292608"/>
          </a:xfrm>
          <a:prstGeom prst="rect">
            <a:avLst/>
          </a:prstGeom>
          <a:noFill/>
          <a:ln/>
        </p:spPr>
        <p:txBody>
          <a:bodyPr wrap="square" lIns="0" tIns="0" rIns="0" bIns="0" rtlCol="0" anchor="ctr"/>
          <a:lstStyle/>
          <a:p>
            <a:pPr indent="0" marL="0">
              <a:buNone/>
            </a:pPr>
            <a:r>
              <a:rPr lang="en-US" sz="1200" i="1" dirty="0">
                <a:solidFill>
                  <a:srgbClr val="C8DFFE"/>
                </a:solidFill>
                <a:latin typeface="Calibri" pitchFamily="34" charset="0"/>
                <a:ea typeface="Calibri" pitchFamily="34" charset="-122"/>
                <a:cs typeface="Calibri" pitchFamily="34" charset="-120"/>
              </a:rPr>
              <a:t>Pre-launch blockers vs. post-launch improvements — effort vs. impact</a:t>
            </a:r>
            <a:endParaRPr lang="en-US" sz="1200" dirty="0"/>
          </a:p>
        </p:txBody>
      </p:sp>
      <p:sp>
        <p:nvSpPr>
          <p:cNvPr id="5" name="Shape 3"/>
          <p:cNvSpPr/>
          <p:nvPr/>
        </p:nvSpPr>
        <p:spPr>
          <a:xfrm>
            <a:off x="274320" y="1005840"/>
            <a:ext cx="4160520" cy="347472"/>
          </a:xfrm>
          <a:prstGeom prst="rect">
            <a:avLst/>
          </a:prstGeom>
          <a:solidFill>
            <a:srgbClr val="D93025"/>
          </a:solidFill>
          <a:ln w="12700">
            <a:solidFill>
              <a:srgbClr val="D93025"/>
            </a:solidFill>
            <a:prstDash val="solid"/>
          </a:ln>
        </p:spPr>
      </p:sp>
      <p:sp>
        <p:nvSpPr>
          <p:cNvPr id="6" name="Text 4"/>
          <p:cNvSpPr/>
          <p:nvPr/>
        </p:nvSpPr>
        <p:spPr>
          <a:xfrm>
            <a:off x="274320" y="1005840"/>
            <a:ext cx="41605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PRE-LAUNCH BLOCKERS  (Must fix before go-live)</a:t>
            </a:r>
            <a:endParaRPr lang="en-US" sz="1100" dirty="0"/>
          </a:p>
        </p:txBody>
      </p:sp>
      <p:sp>
        <p:nvSpPr>
          <p:cNvPr id="7" name="Shape 5"/>
          <p:cNvSpPr/>
          <p:nvPr/>
        </p:nvSpPr>
        <p:spPr>
          <a:xfrm>
            <a:off x="274320" y="1389888"/>
            <a:ext cx="4160520" cy="457200"/>
          </a:xfrm>
          <a:prstGeom prst="rect">
            <a:avLst/>
          </a:prstGeom>
          <a:solidFill>
            <a:srgbClr val="152560"/>
          </a:solidFill>
          <a:ln w="12700">
            <a:solidFill>
              <a:srgbClr val="152560"/>
            </a:solidFill>
            <a:prstDash val="solid"/>
          </a:ln>
        </p:spPr>
      </p:sp>
      <p:sp>
        <p:nvSpPr>
          <p:cNvPr id="8" name="Text 6"/>
          <p:cNvSpPr/>
          <p:nvPr/>
        </p:nvSpPr>
        <p:spPr>
          <a:xfrm>
            <a:off x="347472" y="1481328"/>
            <a:ext cx="566928" cy="256032"/>
          </a:xfrm>
          <a:prstGeom prst="rect">
            <a:avLst/>
          </a:prstGeom>
          <a:noFill/>
          <a:ln/>
        </p:spPr>
        <p:txBody>
          <a:bodyPr wrap="square" lIns="0" tIns="0" rIns="0" bIns="0" rtlCol="0" anchor="ctr"/>
          <a:lstStyle/>
          <a:p>
            <a:pPr indent="0" marL="0">
              <a:buNone/>
            </a:pPr>
            <a:r>
              <a:rPr lang="en-US" sz="1000" b="1" dirty="0">
                <a:solidFill>
                  <a:srgbClr val="D93025"/>
                </a:solidFill>
                <a:latin typeface="Calibri" pitchFamily="34" charset="0"/>
                <a:ea typeface="Calibri" pitchFamily="34" charset="-122"/>
                <a:cs typeface="Calibri" pitchFamily="34" charset="-120"/>
              </a:rPr>
              <a:t>F-01</a:t>
            </a:r>
            <a:endParaRPr lang="en-US" sz="1000" dirty="0"/>
          </a:p>
        </p:txBody>
      </p:sp>
      <p:sp>
        <p:nvSpPr>
          <p:cNvPr id="9" name="Text 7"/>
          <p:cNvSpPr/>
          <p:nvPr/>
        </p:nvSpPr>
        <p:spPr>
          <a:xfrm>
            <a:off x="969264" y="1481328"/>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Replace in-memory rate limiter with Cloudflare KV counter</a:t>
            </a:r>
            <a:endParaRPr lang="en-US" sz="1000" dirty="0"/>
          </a:p>
        </p:txBody>
      </p:sp>
      <p:sp>
        <p:nvSpPr>
          <p:cNvPr id="10" name="Text 8"/>
          <p:cNvSpPr/>
          <p:nvPr/>
        </p:nvSpPr>
        <p:spPr>
          <a:xfrm>
            <a:off x="3712464" y="1481328"/>
            <a:ext cx="64008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2–4 hrs</a:t>
            </a:r>
            <a:endParaRPr lang="en-US" sz="950" dirty="0"/>
          </a:p>
        </p:txBody>
      </p:sp>
      <p:sp>
        <p:nvSpPr>
          <p:cNvPr id="11" name="Shape 9"/>
          <p:cNvSpPr/>
          <p:nvPr/>
        </p:nvSpPr>
        <p:spPr>
          <a:xfrm>
            <a:off x="274320" y="1901952"/>
            <a:ext cx="4160520" cy="457200"/>
          </a:xfrm>
          <a:prstGeom prst="rect">
            <a:avLst/>
          </a:prstGeom>
          <a:solidFill>
            <a:srgbClr val="152560"/>
          </a:solidFill>
          <a:ln w="12700">
            <a:solidFill>
              <a:srgbClr val="152560"/>
            </a:solidFill>
            <a:prstDash val="solid"/>
          </a:ln>
        </p:spPr>
      </p:sp>
      <p:sp>
        <p:nvSpPr>
          <p:cNvPr id="12" name="Text 10"/>
          <p:cNvSpPr/>
          <p:nvPr/>
        </p:nvSpPr>
        <p:spPr>
          <a:xfrm>
            <a:off x="347472" y="1993392"/>
            <a:ext cx="566928" cy="256032"/>
          </a:xfrm>
          <a:prstGeom prst="rect">
            <a:avLst/>
          </a:prstGeom>
          <a:noFill/>
          <a:ln/>
        </p:spPr>
        <p:txBody>
          <a:bodyPr wrap="square" lIns="0" tIns="0" rIns="0" bIns="0" rtlCol="0" anchor="ctr"/>
          <a:lstStyle/>
          <a:p>
            <a:pPr indent="0" marL="0">
              <a:buNone/>
            </a:pPr>
            <a:r>
              <a:rPr lang="en-US" sz="1000" b="1" dirty="0">
                <a:solidFill>
                  <a:srgbClr val="D93025"/>
                </a:solidFill>
                <a:latin typeface="Calibri" pitchFamily="34" charset="0"/>
                <a:ea typeface="Calibri" pitchFamily="34" charset="-122"/>
                <a:cs typeface="Calibri" pitchFamily="34" charset="-120"/>
              </a:rPr>
              <a:t>F-03</a:t>
            </a:r>
            <a:endParaRPr lang="en-US" sz="1000" dirty="0"/>
          </a:p>
        </p:txBody>
      </p:sp>
      <p:sp>
        <p:nvSpPr>
          <p:cNvPr id="13" name="Text 11"/>
          <p:cNvSpPr/>
          <p:nvPr/>
        </p:nvSpPr>
        <p:spPr>
          <a:xfrm>
            <a:off x="969264" y="1993392"/>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Sanitize all workspace string fields before embedding in AI system prompt</a:t>
            </a:r>
            <a:endParaRPr lang="en-US" sz="1000" dirty="0"/>
          </a:p>
        </p:txBody>
      </p:sp>
      <p:sp>
        <p:nvSpPr>
          <p:cNvPr id="14" name="Text 12"/>
          <p:cNvSpPr/>
          <p:nvPr/>
        </p:nvSpPr>
        <p:spPr>
          <a:xfrm>
            <a:off x="3712464" y="1993392"/>
            <a:ext cx="64008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3–5 hrs</a:t>
            </a:r>
            <a:endParaRPr lang="en-US" sz="950" dirty="0"/>
          </a:p>
        </p:txBody>
      </p:sp>
      <p:sp>
        <p:nvSpPr>
          <p:cNvPr id="15" name="Shape 13"/>
          <p:cNvSpPr/>
          <p:nvPr/>
        </p:nvSpPr>
        <p:spPr>
          <a:xfrm>
            <a:off x="274320" y="2414016"/>
            <a:ext cx="4160520" cy="457200"/>
          </a:xfrm>
          <a:prstGeom prst="rect">
            <a:avLst/>
          </a:prstGeom>
          <a:solidFill>
            <a:srgbClr val="152560"/>
          </a:solidFill>
          <a:ln w="12700">
            <a:solidFill>
              <a:srgbClr val="152560"/>
            </a:solidFill>
            <a:prstDash val="solid"/>
          </a:ln>
        </p:spPr>
      </p:sp>
      <p:sp>
        <p:nvSpPr>
          <p:cNvPr id="16" name="Text 14"/>
          <p:cNvSpPr/>
          <p:nvPr/>
        </p:nvSpPr>
        <p:spPr>
          <a:xfrm>
            <a:off x="347472" y="2505456"/>
            <a:ext cx="566928" cy="256032"/>
          </a:xfrm>
          <a:prstGeom prst="rect">
            <a:avLst/>
          </a:prstGeom>
          <a:noFill/>
          <a:ln/>
        </p:spPr>
        <p:txBody>
          <a:bodyPr wrap="square" lIns="0" tIns="0" rIns="0" bIns="0" rtlCol="0" anchor="ctr"/>
          <a:lstStyle/>
          <a:p>
            <a:pPr indent="0" marL="0">
              <a:buNone/>
            </a:pPr>
            <a:r>
              <a:rPr lang="en-US" sz="1000" b="1" dirty="0">
                <a:solidFill>
                  <a:srgbClr val="D93025"/>
                </a:solidFill>
                <a:latin typeface="Calibri" pitchFamily="34" charset="0"/>
                <a:ea typeface="Calibri" pitchFamily="34" charset="-122"/>
                <a:cs typeface="Calibri" pitchFamily="34" charset="-120"/>
              </a:rPr>
              <a:t>SC-1</a:t>
            </a:r>
            <a:endParaRPr lang="en-US" sz="1000" dirty="0"/>
          </a:p>
        </p:txBody>
      </p:sp>
      <p:sp>
        <p:nvSpPr>
          <p:cNvPr id="17" name="Text 15"/>
          <p:cNvSpPr/>
          <p:nvPr/>
        </p:nvSpPr>
        <p:spPr>
          <a:xfrm>
            <a:off x="969264" y="2505456"/>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Upgrade xlsx to 0.20.x or migrate to exceljs — CVE remediation</a:t>
            </a:r>
            <a:endParaRPr lang="en-US" sz="1000" dirty="0"/>
          </a:p>
        </p:txBody>
      </p:sp>
      <p:sp>
        <p:nvSpPr>
          <p:cNvPr id="18" name="Text 16"/>
          <p:cNvSpPr/>
          <p:nvPr/>
        </p:nvSpPr>
        <p:spPr>
          <a:xfrm>
            <a:off x="3712464" y="2505456"/>
            <a:ext cx="64008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1–2 hrs</a:t>
            </a:r>
            <a:endParaRPr lang="en-US" sz="950" dirty="0"/>
          </a:p>
        </p:txBody>
      </p:sp>
      <p:sp>
        <p:nvSpPr>
          <p:cNvPr id="19" name="Shape 17"/>
          <p:cNvSpPr/>
          <p:nvPr/>
        </p:nvSpPr>
        <p:spPr>
          <a:xfrm>
            <a:off x="4709160" y="1005840"/>
            <a:ext cx="4160520" cy="347472"/>
          </a:xfrm>
          <a:prstGeom prst="rect">
            <a:avLst/>
          </a:prstGeom>
          <a:solidFill>
            <a:srgbClr val="0F7B8C"/>
          </a:solidFill>
          <a:ln w="12700">
            <a:solidFill>
              <a:srgbClr val="0F7B8C"/>
            </a:solidFill>
            <a:prstDash val="solid"/>
          </a:ln>
        </p:spPr>
      </p:sp>
      <p:sp>
        <p:nvSpPr>
          <p:cNvPr id="20" name="Text 18"/>
          <p:cNvSpPr/>
          <p:nvPr/>
        </p:nvSpPr>
        <p:spPr>
          <a:xfrm>
            <a:off x="4709160" y="1005840"/>
            <a:ext cx="41605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POST-LAUNCH IMPROVEMENTS  (Within 30 days)</a:t>
            </a:r>
            <a:endParaRPr lang="en-US" sz="1100" dirty="0"/>
          </a:p>
        </p:txBody>
      </p:sp>
      <p:sp>
        <p:nvSpPr>
          <p:cNvPr id="21" name="Shape 19"/>
          <p:cNvSpPr/>
          <p:nvPr/>
        </p:nvSpPr>
        <p:spPr>
          <a:xfrm>
            <a:off x="4709160" y="1389888"/>
            <a:ext cx="4160520" cy="457200"/>
          </a:xfrm>
          <a:prstGeom prst="rect">
            <a:avLst/>
          </a:prstGeom>
          <a:solidFill>
            <a:srgbClr val="152560"/>
          </a:solidFill>
          <a:ln w="12700">
            <a:solidFill>
              <a:srgbClr val="152560"/>
            </a:solidFill>
            <a:prstDash val="solid"/>
          </a:ln>
        </p:spPr>
      </p:sp>
      <p:sp>
        <p:nvSpPr>
          <p:cNvPr id="22" name="Text 20"/>
          <p:cNvSpPr/>
          <p:nvPr/>
        </p:nvSpPr>
        <p:spPr>
          <a:xfrm>
            <a:off x="4782312" y="1481328"/>
            <a:ext cx="566928" cy="256032"/>
          </a:xfrm>
          <a:prstGeom prst="rect">
            <a:avLst/>
          </a:prstGeom>
          <a:noFill/>
          <a:ln/>
        </p:spPr>
        <p:txBody>
          <a:bodyPr wrap="square" lIns="0" tIns="0" rIns="0" bIns="0" rtlCol="0" anchor="ctr"/>
          <a:lstStyle/>
          <a:p>
            <a:pPr indent="0" marL="0">
              <a:buNone/>
            </a:pPr>
            <a:r>
              <a:rPr lang="en-US" sz="1000" b="1" dirty="0">
                <a:solidFill>
                  <a:srgbClr val="14A8BD"/>
                </a:solidFill>
                <a:latin typeface="Calibri" pitchFamily="34" charset="0"/>
                <a:ea typeface="Calibri" pitchFamily="34" charset="-122"/>
                <a:cs typeface="Calibri" pitchFamily="34" charset="-120"/>
              </a:rPr>
              <a:t>F-02</a:t>
            </a:r>
            <a:endParaRPr lang="en-US" sz="1000" dirty="0"/>
          </a:p>
        </p:txBody>
      </p:sp>
      <p:sp>
        <p:nvSpPr>
          <p:cNvPr id="23" name="Text 21"/>
          <p:cNvSpPr/>
          <p:nvPr/>
        </p:nvSpPr>
        <p:spPr>
          <a:xfrm>
            <a:off x="5404104" y="1481328"/>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Add Zod schema validation on workspace PUT before D1 write</a:t>
            </a:r>
            <a:endParaRPr lang="en-US" sz="1000" dirty="0"/>
          </a:p>
        </p:txBody>
      </p:sp>
      <p:sp>
        <p:nvSpPr>
          <p:cNvPr id="24" name="Text 22"/>
          <p:cNvSpPr/>
          <p:nvPr/>
        </p:nvSpPr>
        <p:spPr>
          <a:xfrm>
            <a:off x="8193024" y="1481328"/>
            <a:ext cx="59436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2–3 hrs</a:t>
            </a:r>
            <a:endParaRPr lang="en-US" sz="950" dirty="0"/>
          </a:p>
        </p:txBody>
      </p:sp>
      <p:sp>
        <p:nvSpPr>
          <p:cNvPr id="25" name="Shape 23"/>
          <p:cNvSpPr/>
          <p:nvPr/>
        </p:nvSpPr>
        <p:spPr>
          <a:xfrm>
            <a:off x="4709160" y="1901952"/>
            <a:ext cx="4160520" cy="457200"/>
          </a:xfrm>
          <a:prstGeom prst="rect">
            <a:avLst/>
          </a:prstGeom>
          <a:solidFill>
            <a:srgbClr val="152560"/>
          </a:solidFill>
          <a:ln w="12700">
            <a:solidFill>
              <a:srgbClr val="152560"/>
            </a:solidFill>
            <a:prstDash val="solid"/>
          </a:ln>
        </p:spPr>
      </p:sp>
      <p:sp>
        <p:nvSpPr>
          <p:cNvPr id="26" name="Text 24"/>
          <p:cNvSpPr/>
          <p:nvPr/>
        </p:nvSpPr>
        <p:spPr>
          <a:xfrm>
            <a:off x="4782312" y="1993392"/>
            <a:ext cx="566928" cy="256032"/>
          </a:xfrm>
          <a:prstGeom prst="rect">
            <a:avLst/>
          </a:prstGeom>
          <a:noFill/>
          <a:ln/>
        </p:spPr>
        <p:txBody>
          <a:bodyPr wrap="square" lIns="0" tIns="0" rIns="0" bIns="0" rtlCol="0" anchor="ctr"/>
          <a:lstStyle/>
          <a:p>
            <a:pPr indent="0" marL="0">
              <a:buNone/>
            </a:pPr>
            <a:r>
              <a:rPr lang="en-US" sz="1000" b="1" dirty="0">
                <a:solidFill>
                  <a:srgbClr val="14A8BD"/>
                </a:solidFill>
                <a:latin typeface="Calibri" pitchFamily="34" charset="0"/>
                <a:ea typeface="Calibri" pitchFamily="34" charset="-122"/>
                <a:cs typeface="Calibri" pitchFamily="34" charset="-120"/>
              </a:rPr>
              <a:t>F-04</a:t>
            </a:r>
            <a:endParaRPr lang="en-US" sz="1000" dirty="0"/>
          </a:p>
        </p:txBody>
      </p:sp>
      <p:sp>
        <p:nvSpPr>
          <p:cNvPr id="27" name="Text 25"/>
          <p:cNvSpPr/>
          <p:nvPr/>
        </p:nvSpPr>
        <p:spPr>
          <a:xfrm>
            <a:off x="5404104" y="1993392"/>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Add atomic lock or idempotency key to trial activation route</a:t>
            </a:r>
            <a:endParaRPr lang="en-US" sz="1000" dirty="0"/>
          </a:p>
        </p:txBody>
      </p:sp>
      <p:sp>
        <p:nvSpPr>
          <p:cNvPr id="28" name="Text 26"/>
          <p:cNvSpPr/>
          <p:nvPr/>
        </p:nvSpPr>
        <p:spPr>
          <a:xfrm>
            <a:off x="8193024" y="1993392"/>
            <a:ext cx="59436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3–4 hrs</a:t>
            </a:r>
            <a:endParaRPr lang="en-US" sz="950" dirty="0"/>
          </a:p>
        </p:txBody>
      </p:sp>
      <p:sp>
        <p:nvSpPr>
          <p:cNvPr id="29" name="Shape 27"/>
          <p:cNvSpPr/>
          <p:nvPr/>
        </p:nvSpPr>
        <p:spPr>
          <a:xfrm>
            <a:off x="4709160" y="2414016"/>
            <a:ext cx="4160520" cy="457200"/>
          </a:xfrm>
          <a:prstGeom prst="rect">
            <a:avLst/>
          </a:prstGeom>
          <a:solidFill>
            <a:srgbClr val="152560"/>
          </a:solidFill>
          <a:ln w="12700">
            <a:solidFill>
              <a:srgbClr val="152560"/>
            </a:solidFill>
            <a:prstDash val="solid"/>
          </a:ln>
        </p:spPr>
      </p:sp>
      <p:sp>
        <p:nvSpPr>
          <p:cNvPr id="30" name="Text 28"/>
          <p:cNvSpPr/>
          <p:nvPr/>
        </p:nvSpPr>
        <p:spPr>
          <a:xfrm>
            <a:off x="4782312" y="2505456"/>
            <a:ext cx="566928" cy="256032"/>
          </a:xfrm>
          <a:prstGeom prst="rect">
            <a:avLst/>
          </a:prstGeom>
          <a:noFill/>
          <a:ln/>
        </p:spPr>
        <p:txBody>
          <a:bodyPr wrap="square" lIns="0" tIns="0" rIns="0" bIns="0" rtlCol="0" anchor="ctr"/>
          <a:lstStyle/>
          <a:p>
            <a:pPr indent="0" marL="0">
              <a:buNone/>
            </a:pPr>
            <a:r>
              <a:rPr lang="en-US" sz="1000" b="1" dirty="0">
                <a:solidFill>
                  <a:srgbClr val="14A8BD"/>
                </a:solidFill>
                <a:latin typeface="Calibri" pitchFamily="34" charset="0"/>
                <a:ea typeface="Calibri" pitchFamily="34" charset="-122"/>
                <a:cs typeface="Calibri" pitchFamily="34" charset="-120"/>
              </a:rPr>
              <a:t>QA-2</a:t>
            </a:r>
            <a:endParaRPr lang="en-US" sz="1000" dirty="0"/>
          </a:p>
        </p:txBody>
      </p:sp>
      <p:sp>
        <p:nvSpPr>
          <p:cNvPr id="31" name="Text 29"/>
          <p:cNvSpPr/>
          <p:nvPr/>
        </p:nvSpPr>
        <p:spPr>
          <a:xfrm>
            <a:off x="5404104" y="2505456"/>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Cap market data symbol array at 50 per request</a:t>
            </a:r>
            <a:endParaRPr lang="en-US" sz="1000" dirty="0"/>
          </a:p>
        </p:txBody>
      </p:sp>
      <p:sp>
        <p:nvSpPr>
          <p:cNvPr id="32" name="Text 30"/>
          <p:cNvSpPr/>
          <p:nvPr/>
        </p:nvSpPr>
        <p:spPr>
          <a:xfrm>
            <a:off x="8193024" y="2505456"/>
            <a:ext cx="59436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30 min</a:t>
            </a:r>
            <a:endParaRPr lang="en-US" sz="950" dirty="0"/>
          </a:p>
        </p:txBody>
      </p:sp>
      <p:sp>
        <p:nvSpPr>
          <p:cNvPr id="33" name="Shape 31"/>
          <p:cNvSpPr/>
          <p:nvPr/>
        </p:nvSpPr>
        <p:spPr>
          <a:xfrm>
            <a:off x="4709160" y="2926080"/>
            <a:ext cx="4160520" cy="457200"/>
          </a:xfrm>
          <a:prstGeom prst="rect">
            <a:avLst/>
          </a:prstGeom>
          <a:solidFill>
            <a:srgbClr val="152560"/>
          </a:solidFill>
          <a:ln w="12700">
            <a:solidFill>
              <a:srgbClr val="152560"/>
            </a:solidFill>
            <a:prstDash val="solid"/>
          </a:ln>
        </p:spPr>
      </p:sp>
      <p:sp>
        <p:nvSpPr>
          <p:cNvPr id="34" name="Text 32"/>
          <p:cNvSpPr/>
          <p:nvPr/>
        </p:nvSpPr>
        <p:spPr>
          <a:xfrm>
            <a:off x="4782312" y="3017520"/>
            <a:ext cx="566928" cy="256032"/>
          </a:xfrm>
          <a:prstGeom prst="rect">
            <a:avLst/>
          </a:prstGeom>
          <a:noFill/>
          <a:ln/>
        </p:spPr>
        <p:txBody>
          <a:bodyPr wrap="square" lIns="0" tIns="0" rIns="0" bIns="0" rtlCol="0" anchor="ctr"/>
          <a:lstStyle/>
          <a:p>
            <a:pPr indent="0" marL="0">
              <a:buNone/>
            </a:pPr>
            <a:r>
              <a:rPr lang="en-US" sz="1000" b="1" dirty="0">
                <a:solidFill>
                  <a:srgbClr val="14A8BD"/>
                </a:solidFill>
                <a:latin typeface="Calibri" pitchFamily="34" charset="0"/>
                <a:ea typeface="Calibri" pitchFamily="34" charset="-122"/>
                <a:cs typeface="Calibri" pitchFamily="34" charset="-120"/>
              </a:rPr>
              <a:t>QA-3</a:t>
            </a:r>
            <a:endParaRPr lang="en-US" sz="1000" dirty="0"/>
          </a:p>
        </p:txBody>
      </p:sp>
      <p:sp>
        <p:nvSpPr>
          <p:cNvPr id="35" name="Text 33"/>
          <p:cNvSpPr/>
          <p:nvPr/>
        </p:nvSpPr>
        <p:spPr>
          <a:xfrm>
            <a:off x="5404104" y="3017520"/>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Apply sanitizeUserMessage() to assistant-role messages too</a:t>
            </a:r>
            <a:endParaRPr lang="en-US" sz="1000" dirty="0"/>
          </a:p>
        </p:txBody>
      </p:sp>
      <p:sp>
        <p:nvSpPr>
          <p:cNvPr id="36" name="Text 34"/>
          <p:cNvSpPr/>
          <p:nvPr/>
        </p:nvSpPr>
        <p:spPr>
          <a:xfrm>
            <a:off x="8193024" y="3017520"/>
            <a:ext cx="59436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1 hr</a:t>
            </a:r>
            <a:endParaRPr lang="en-US" sz="950" dirty="0"/>
          </a:p>
        </p:txBody>
      </p:sp>
      <p:sp>
        <p:nvSpPr>
          <p:cNvPr id="37" name="Shape 35"/>
          <p:cNvSpPr/>
          <p:nvPr/>
        </p:nvSpPr>
        <p:spPr>
          <a:xfrm>
            <a:off x="4709160" y="3438144"/>
            <a:ext cx="4160520" cy="457200"/>
          </a:xfrm>
          <a:prstGeom prst="rect">
            <a:avLst/>
          </a:prstGeom>
          <a:solidFill>
            <a:srgbClr val="152560"/>
          </a:solidFill>
          <a:ln w="12700">
            <a:solidFill>
              <a:srgbClr val="152560"/>
            </a:solidFill>
            <a:prstDash val="solid"/>
          </a:ln>
        </p:spPr>
      </p:sp>
      <p:sp>
        <p:nvSpPr>
          <p:cNvPr id="38" name="Text 36"/>
          <p:cNvSpPr/>
          <p:nvPr/>
        </p:nvSpPr>
        <p:spPr>
          <a:xfrm>
            <a:off x="4782312" y="3529584"/>
            <a:ext cx="566928" cy="256032"/>
          </a:xfrm>
          <a:prstGeom prst="rect">
            <a:avLst/>
          </a:prstGeom>
          <a:noFill/>
          <a:ln/>
        </p:spPr>
        <p:txBody>
          <a:bodyPr wrap="square" lIns="0" tIns="0" rIns="0" bIns="0" rtlCol="0" anchor="ctr"/>
          <a:lstStyle/>
          <a:p>
            <a:pPr indent="0" marL="0">
              <a:buNone/>
            </a:pPr>
            <a:r>
              <a:rPr lang="en-US" sz="1000" b="1" dirty="0">
                <a:solidFill>
                  <a:srgbClr val="14A8BD"/>
                </a:solidFill>
                <a:latin typeface="Calibri" pitchFamily="34" charset="0"/>
                <a:ea typeface="Calibri" pitchFamily="34" charset="-122"/>
                <a:cs typeface="Calibri" pitchFamily="34" charset="-120"/>
              </a:rPr>
              <a:t>F-05</a:t>
            </a:r>
            <a:endParaRPr lang="en-US" sz="1000" dirty="0"/>
          </a:p>
        </p:txBody>
      </p:sp>
      <p:sp>
        <p:nvSpPr>
          <p:cNvPr id="39" name="Text 37"/>
          <p:cNvSpPr/>
          <p:nvPr/>
        </p:nvSpPr>
        <p:spPr>
          <a:xfrm>
            <a:off x="5404104" y="3529584"/>
            <a:ext cx="2743200" cy="256032"/>
          </a:xfrm>
          <a:prstGeom prst="rect">
            <a:avLst/>
          </a:prstGeom>
          <a:noFill/>
          <a:ln/>
        </p:spPr>
        <p:txBody>
          <a:bodyPr wrap="square" lIns="0" tIns="0" rIns="0" bIns="0" rtlCol="0" anchor="ctr"/>
          <a:lstStyle/>
          <a:p>
            <a:pPr indent="0" marL="0">
              <a:buNone/>
            </a:pPr>
            <a:r>
              <a:rPr lang="en-US" sz="1000" dirty="0">
                <a:solidFill>
                  <a:srgbClr val="C8DFFE"/>
                </a:solidFill>
                <a:latin typeface="Calibri" pitchFamily="34" charset="0"/>
                <a:ea typeface="Calibri" pitchFamily="34" charset="-122"/>
                <a:cs typeface="Calibri" pitchFamily="34" charset="-120"/>
              </a:rPr>
              <a:t>Restrict Prisma query logging to NODE_ENV !== 'production'</a:t>
            </a:r>
            <a:endParaRPr lang="en-US" sz="1000" dirty="0"/>
          </a:p>
        </p:txBody>
      </p:sp>
      <p:sp>
        <p:nvSpPr>
          <p:cNvPr id="40" name="Text 38"/>
          <p:cNvSpPr/>
          <p:nvPr/>
        </p:nvSpPr>
        <p:spPr>
          <a:xfrm>
            <a:off x="8193024" y="3529584"/>
            <a:ext cx="594360" cy="256032"/>
          </a:xfrm>
          <a:prstGeom prst="rect">
            <a:avLst/>
          </a:prstGeom>
          <a:noFill/>
          <a:ln/>
        </p:spPr>
        <p:txBody>
          <a:bodyPr wrap="square" lIns="0" tIns="0" rIns="0" bIns="0" rtlCol="0" anchor="ctr"/>
          <a:lstStyle/>
          <a:p>
            <a:pPr algn="r" indent="0" marL="0">
              <a:buNone/>
            </a:pPr>
            <a:r>
              <a:rPr lang="en-US" sz="950" dirty="0">
                <a:solidFill>
                  <a:srgbClr val="C8A951"/>
                </a:solidFill>
                <a:latin typeface="Calibri" pitchFamily="34" charset="0"/>
                <a:ea typeface="Calibri" pitchFamily="34" charset="-122"/>
                <a:cs typeface="Calibri" pitchFamily="34" charset="-120"/>
              </a:rPr>
              <a:t>15 min</a:t>
            </a:r>
            <a:endParaRPr lang="en-US" sz="950" dirty="0"/>
          </a:p>
        </p:txBody>
      </p:sp>
      <p:sp>
        <p:nvSpPr>
          <p:cNvPr id="41" name="Shape 39"/>
          <p:cNvSpPr/>
          <p:nvPr/>
        </p:nvSpPr>
        <p:spPr>
          <a:xfrm>
            <a:off x="274320" y="3913632"/>
            <a:ext cx="8595360" cy="347472"/>
          </a:xfrm>
          <a:prstGeom prst="rect">
            <a:avLst/>
          </a:prstGeom>
          <a:solidFill>
            <a:srgbClr val="152560"/>
          </a:solidFill>
          <a:ln w="12700">
            <a:solidFill>
              <a:srgbClr val="152560"/>
            </a:solidFill>
            <a:prstDash val="solid"/>
          </a:ln>
        </p:spPr>
      </p:sp>
      <p:sp>
        <p:nvSpPr>
          <p:cNvPr id="42" name="Text 40"/>
          <p:cNvSpPr/>
          <p:nvPr/>
        </p:nvSpPr>
        <p:spPr>
          <a:xfrm>
            <a:off x="274320" y="3913632"/>
            <a:ext cx="8595360" cy="347472"/>
          </a:xfrm>
          <a:prstGeom prst="rect">
            <a:avLst/>
          </a:prstGeom>
          <a:noFill/>
          <a:ln/>
        </p:spPr>
        <p:txBody>
          <a:bodyPr wrap="square" lIns="0" tIns="0" rIns="0" bIns="0" rtlCol="0" anchor="ctr"/>
          <a:lstStyle/>
          <a:p>
            <a:pPr algn="ctr" indent="0" marL="0">
              <a:buNone/>
            </a:pPr>
            <a:r>
              <a:rPr lang="en-US" sz="1100" dirty="0">
                <a:solidFill>
                  <a:srgbClr val="14A8BD"/>
                </a:solidFill>
                <a:latin typeface="Calibri" pitchFamily="34" charset="0"/>
                <a:ea typeface="Calibri" pitchFamily="34" charset="-122"/>
                <a:cs typeface="Calibri" pitchFamily="34" charset="-120"/>
              </a:rPr>
              <a:t>Total pre-launch effort:  ~6–11 hrs  ·  Blocker remediation is achievable within 1 working day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B1740"/>
          </a:solidFill>
          <a:ln w="12700">
            <a:solidFill>
              <a:srgbClr val="0B174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2400" b="1" dirty="0">
                <a:solidFill>
                  <a:srgbClr val="0B1740"/>
                </a:solidFill>
                <a:latin typeface="Calibri" pitchFamily="34" charset="0"/>
                <a:ea typeface="Calibri" pitchFamily="34" charset="-122"/>
                <a:cs typeface="Calibri" pitchFamily="34" charset="-120"/>
              </a:rPr>
              <a:t>Official Launch Plan — 4-Phase Rollout Strategy</a:t>
            </a:r>
            <a:endParaRPr lang="en-US" sz="2400" dirty="0"/>
          </a:p>
        </p:txBody>
      </p:sp>
      <p:sp>
        <p:nvSpPr>
          <p:cNvPr id="4" name="Text 2"/>
          <p:cNvSpPr/>
          <p:nvPr/>
        </p:nvSpPr>
        <p:spPr>
          <a:xfrm>
            <a:off x="457200" y="713232"/>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Structured go-to-market with security gates at each phase transition</a:t>
            </a:r>
            <a:endParaRPr lang="en-US" sz="1100" dirty="0"/>
          </a:p>
        </p:txBody>
      </p:sp>
      <p:sp>
        <p:nvSpPr>
          <p:cNvPr id="5" name="Shape 3"/>
          <p:cNvSpPr/>
          <p:nvPr/>
        </p:nvSpPr>
        <p:spPr>
          <a:xfrm>
            <a:off x="0" y="5047488"/>
            <a:ext cx="9144000" cy="91440"/>
          </a:xfrm>
          <a:prstGeom prst="rect">
            <a:avLst/>
          </a:prstGeom>
          <a:solidFill>
            <a:srgbClr val="0B1740"/>
          </a:solidFill>
          <a:ln w="12700">
            <a:solidFill>
              <a:srgbClr val="0B1740"/>
            </a:solidFill>
            <a:prstDash val="solid"/>
          </a:ln>
        </p:spPr>
      </p:sp>
      <p:sp>
        <p:nvSpPr>
          <p:cNvPr id="6" name="Shape 4"/>
          <p:cNvSpPr/>
          <p:nvPr/>
        </p:nvSpPr>
        <p:spPr>
          <a:xfrm>
            <a:off x="228600" y="1005840"/>
            <a:ext cx="2011680" cy="530352"/>
          </a:xfrm>
          <a:prstGeom prst="rect">
            <a:avLst/>
          </a:prstGeom>
          <a:solidFill>
            <a:srgbClr val="D93025"/>
          </a:solidFill>
          <a:ln w="12700">
            <a:solidFill>
              <a:srgbClr val="D93025"/>
            </a:solidFill>
            <a:prstDash val="solid"/>
          </a:ln>
          <a:effectLst>
            <a:outerShdw sx="100000" sy="100000" kx="0" ky="0" algn="bl" rotWithShape="0" blurRad="63500" dist="25400" dir="8100000">
              <a:srgbClr val="000000">
                <a:alpha val="12000"/>
              </a:srgbClr>
            </a:outerShdw>
          </a:effectLst>
        </p:spPr>
      </p:sp>
      <p:sp>
        <p:nvSpPr>
          <p:cNvPr id="7" name="Text 5"/>
          <p:cNvSpPr/>
          <p:nvPr/>
        </p:nvSpPr>
        <p:spPr>
          <a:xfrm>
            <a:off x="228600" y="1005840"/>
            <a:ext cx="50292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731520" y="1005840"/>
            <a:ext cx="1481328" cy="274320"/>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Security Sprint</a:t>
            </a:r>
            <a:endParaRPr lang="en-US" sz="1150" dirty="0"/>
          </a:p>
        </p:txBody>
      </p:sp>
      <p:sp>
        <p:nvSpPr>
          <p:cNvPr id="9" name="Text 7"/>
          <p:cNvSpPr/>
          <p:nvPr/>
        </p:nvSpPr>
        <p:spPr>
          <a:xfrm>
            <a:off x="731520" y="1280160"/>
            <a:ext cx="1481328" cy="23774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Week 1–2  (Now – Apr 11)</a:t>
            </a:r>
            <a:endParaRPr lang="en-US" sz="850" dirty="0"/>
          </a:p>
        </p:txBody>
      </p:sp>
      <p:sp>
        <p:nvSpPr>
          <p:cNvPr id="10" name="Shape 8"/>
          <p:cNvSpPr/>
          <p:nvPr/>
        </p:nvSpPr>
        <p:spPr>
          <a:xfrm>
            <a:off x="228600" y="1572768"/>
            <a:ext cx="2011680" cy="2834640"/>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1572768"/>
            <a:ext cx="2011680" cy="45720"/>
          </a:xfrm>
          <a:prstGeom prst="rect">
            <a:avLst/>
          </a:prstGeom>
          <a:solidFill>
            <a:srgbClr val="D93025"/>
          </a:solidFill>
          <a:ln w="12700">
            <a:solidFill>
              <a:srgbClr val="D93025"/>
            </a:solidFill>
            <a:prstDash val="solid"/>
          </a:ln>
        </p:spPr>
      </p:sp>
      <p:sp>
        <p:nvSpPr>
          <p:cNvPr id="12" name="Text 10"/>
          <p:cNvSpPr/>
          <p:nvPr/>
        </p:nvSpPr>
        <p:spPr>
          <a:xfrm>
            <a:off x="320040" y="1645920"/>
            <a:ext cx="1828800" cy="1828800"/>
          </a:xfrm>
          <a:prstGeom prst="rect">
            <a:avLst/>
          </a:prstGeom>
          <a:noFill/>
          <a:ln/>
        </p:spPr>
        <p:txBody>
          <a:bodyPr wrap="square" lIns="0" tIns="0" rIns="0" bIns="0" rtlCol="0" anchor="t"/>
          <a:lstStyle/>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Fix F-01: KV-based rate limiter</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Fix F-03: AI context sanitization</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Fix SC-1: xlsx upgrade</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Remove next-auth if unused</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Code review + peer sign-off</a:t>
            </a:r>
            <a:endParaRPr lang="en-US" sz="1000" dirty="0"/>
          </a:p>
        </p:txBody>
      </p:sp>
      <p:sp>
        <p:nvSpPr>
          <p:cNvPr id="13" name="Shape 11"/>
          <p:cNvSpPr/>
          <p:nvPr/>
        </p:nvSpPr>
        <p:spPr>
          <a:xfrm>
            <a:off x="228600" y="4114800"/>
            <a:ext cx="2011680" cy="310896"/>
          </a:xfrm>
          <a:prstGeom prst="rect">
            <a:avLst/>
          </a:prstGeom>
          <a:solidFill>
            <a:srgbClr val="D93025"/>
          </a:solidFill>
          <a:ln w="12700">
            <a:solidFill>
              <a:srgbClr val="D93025"/>
            </a:solidFill>
            <a:prstDash val="solid"/>
          </a:ln>
        </p:spPr>
      </p:sp>
      <p:sp>
        <p:nvSpPr>
          <p:cNvPr id="14" name="Text 12"/>
          <p:cNvSpPr/>
          <p:nvPr/>
        </p:nvSpPr>
        <p:spPr>
          <a:xfrm>
            <a:off x="301752" y="4114800"/>
            <a:ext cx="1920240" cy="31089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GATE: </a:t>
            </a:r>
            <a:pPr indent="0" marL="0">
              <a:buNone/>
            </a:pPr>
            <a:r>
              <a:rPr lang="en-US" sz="850" dirty="0">
                <a:solidFill>
                  <a:srgbClr val="FFFFFF"/>
                </a:solidFill>
                <a:latin typeface="Calibri" pitchFamily="34" charset="0"/>
                <a:ea typeface="Calibri" pitchFamily="34" charset="-122"/>
                <a:cs typeface="Calibri" pitchFamily="34" charset="-120"/>
              </a:rPr>
              <a:t>Zero open CRITICAL / HIGH issues</a:t>
            </a:r>
            <a:endParaRPr lang="en-US" sz="850" dirty="0"/>
          </a:p>
        </p:txBody>
      </p:sp>
      <p:sp>
        <p:nvSpPr>
          <p:cNvPr id="15" name="Shape 13"/>
          <p:cNvSpPr/>
          <p:nvPr/>
        </p:nvSpPr>
        <p:spPr>
          <a:xfrm>
            <a:off x="2404872" y="1005840"/>
            <a:ext cx="2011680" cy="530352"/>
          </a:xfrm>
          <a:prstGeom prst="rect">
            <a:avLst/>
          </a:prstGeom>
          <a:solidFill>
            <a:srgbClr val="E88A1A"/>
          </a:solidFill>
          <a:ln w="12700">
            <a:solidFill>
              <a:srgbClr val="E88A1A"/>
            </a:solidFill>
            <a:prstDash val="solid"/>
          </a:ln>
          <a:effectLst>
            <a:outerShdw sx="100000" sy="100000" kx="0" ky="0" algn="bl" rotWithShape="0" blurRad="63500" dist="25400" dir="8100000">
              <a:srgbClr val="000000">
                <a:alpha val="12000"/>
              </a:srgbClr>
            </a:outerShdw>
          </a:effectLst>
        </p:spPr>
      </p:sp>
      <p:sp>
        <p:nvSpPr>
          <p:cNvPr id="16" name="Text 14"/>
          <p:cNvSpPr/>
          <p:nvPr/>
        </p:nvSpPr>
        <p:spPr>
          <a:xfrm>
            <a:off x="2404872" y="1005840"/>
            <a:ext cx="50292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7" name="Text 15"/>
          <p:cNvSpPr/>
          <p:nvPr/>
        </p:nvSpPr>
        <p:spPr>
          <a:xfrm>
            <a:off x="2907792" y="1005840"/>
            <a:ext cx="1481328" cy="274320"/>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Beta Launch</a:t>
            </a:r>
            <a:endParaRPr lang="en-US" sz="1150" dirty="0"/>
          </a:p>
        </p:txBody>
      </p:sp>
      <p:sp>
        <p:nvSpPr>
          <p:cNvPr id="18" name="Text 16"/>
          <p:cNvSpPr/>
          <p:nvPr/>
        </p:nvSpPr>
        <p:spPr>
          <a:xfrm>
            <a:off x="2907792" y="1280160"/>
            <a:ext cx="1481328" cy="23774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Week 3–4  (Apr 12–25)</a:t>
            </a:r>
            <a:endParaRPr lang="en-US" sz="850" dirty="0"/>
          </a:p>
        </p:txBody>
      </p:sp>
      <p:sp>
        <p:nvSpPr>
          <p:cNvPr id="19" name="Shape 17"/>
          <p:cNvSpPr/>
          <p:nvPr/>
        </p:nvSpPr>
        <p:spPr>
          <a:xfrm>
            <a:off x="2404872" y="1572768"/>
            <a:ext cx="2011680" cy="2834640"/>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0" name="Shape 18"/>
          <p:cNvSpPr/>
          <p:nvPr/>
        </p:nvSpPr>
        <p:spPr>
          <a:xfrm>
            <a:off x="2404872" y="1572768"/>
            <a:ext cx="2011680" cy="45720"/>
          </a:xfrm>
          <a:prstGeom prst="rect">
            <a:avLst/>
          </a:prstGeom>
          <a:solidFill>
            <a:srgbClr val="E88A1A"/>
          </a:solidFill>
          <a:ln w="12700">
            <a:solidFill>
              <a:srgbClr val="E88A1A"/>
            </a:solidFill>
            <a:prstDash val="solid"/>
          </a:ln>
        </p:spPr>
      </p:sp>
      <p:sp>
        <p:nvSpPr>
          <p:cNvPr id="21" name="Text 19"/>
          <p:cNvSpPr/>
          <p:nvPr/>
        </p:nvSpPr>
        <p:spPr>
          <a:xfrm>
            <a:off x="2496312" y="1645920"/>
            <a:ext cx="1828800" cy="1828800"/>
          </a:xfrm>
          <a:prstGeom prst="rect">
            <a:avLst/>
          </a:prstGeom>
          <a:noFill/>
          <a:ln/>
        </p:spPr>
        <p:txBody>
          <a:bodyPr wrap="square" lIns="0" tIns="0" rIns="0" bIns="0" rtlCol="0" anchor="t"/>
          <a:lstStyle/>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Private beta: invite-only 50–100 users</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Monitor Cloudflare observability logs</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Apply post-launch improvements list</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Load test market data &amp; OCR endpoints</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Collect user feedback on Arabic UX</a:t>
            </a:r>
            <a:endParaRPr lang="en-US" sz="1000" dirty="0"/>
          </a:p>
        </p:txBody>
      </p:sp>
      <p:sp>
        <p:nvSpPr>
          <p:cNvPr id="22" name="Shape 20"/>
          <p:cNvSpPr/>
          <p:nvPr/>
        </p:nvSpPr>
        <p:spPr>
          <a:xfrm>
            <a:off x="2404872" y="4114800"/>
            <a:ext cx="2011680" cy="310896"/>
          </a:xfrm>
          <a:prstGeom prst="rect">
            <a:avLst/>
          </a:prstGeom>
          <a:solidFill>
            <a:srgbClr val="E88A1A"/>
          </a:solidFill>
          <a:ln w="12700">
            <a:solidFill>
              <a:srgbClr val="E88A1A"/>
            </a:solidFill>
            <a:prstDash val="solid"/>
          </a:ln>
        </p:spPr>
      </p:sp>
      <p:sp>
        <p:nvSpPr>
          <p:cNvPr id="23" name="Text 21"/>
          <p:cNvSpPr/>
          <p:nvPr/>
        </p:nvSpPr>
        <p:spPr>
          <a:xfrm>
            <a:off x="2478024" y="4114800"/>
            <a:ext cx="1920240" cy="31089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GATE: </a:t>
            </a:r>
            <a:pPr indent="0" marL="0">
              <a:buNone/>
            </a:pPr>
            <a:r>
              <a:rPr lang="en-US" sz="850" dirty="0">
                <a:solidFill>
                  <a:srgbClr val="FFFFFF"/>
                </a:solidFill>
                <a:latin typeface="Calibri" pitchFamily="34" charset="0"/>
                <a:ea typeface="Calibri" pitchFamily="34" charset="-122"/>
                <a:cs typeface="Calibri" pitchFamily="34" charset="-120"/>
              </a:rPr>
              <a:t>&lt; 1% error rate, no P1 bugs</a:t>
            </a:r>
            <a:endParaRPr lang="en-US" sz="850" dirty="0"/>
          </a:p>
        </p:txBody>
      </p:sp>
      <p:sp>
        <p:nvSpPr>
          <p:cNvPr id="24" name="Shape 22"/>
          <p:cNvSpPr/>
          <p:nvPr/>
        </p:nvSpPr>
        <p:spPr>
          <a:xfrm>
            <a:off x="4581144" y="1005840"/>
            <a:ext cx="2011680" cy="530352"/>
          </a:xfrm>
          <a:prstGeom prst="rect">
            <a:avLst/>
          </a:prstGeom>
          <a:solidFill>
            <a:srgbClr val="0F7B8C"/>
          </a:solidFill>
          <a:ln w="12700">
            <a:solidFill>
              <a:srgbClr val="0F7B8C"/>
            </a:solidFill>
            <a:prstDash val="solid"/>
          </a:ln>
          <a:effectLst>
            <a:outerShdw sx="100000" sy="100000" kx="0" ky="0" algn="bl" rotWithShape="0" blurRad="63500" dist="25400" dir="8100000">
              <a:srgbClr val="000000">
                <a:alpha val="12000"/>
              </a:srgbClr>
            </a:outerShdw>
          </a:effectLst>
        </p:spPr>
      </p:sp>
      <p:sp>
        <p:nvSpPr>
          <p:cNvPr id="25" name="Text 23"/>
          <p:cNvSpPr/>
          <p:nvPr/>
        </p:nvSpPr>
        <p:spPr>
          <a:xfrm>
            <a:off x="4581144" y="1005840"/>
            <a:ext cx="50292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6" name="Text 24"/>
          <p:cNvSpPr/>
          <p:nvPr/>
        </p:nvSpPr>
        <p:spPr>
          <a:xfrm>
            <a:off x="5084064" y="1005840"/>
            <a:ext cx="1481328" cy="274320"/>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Soft Public Launch</a:t>
            </a:r>
            <a:endParaRPr lang="en-US" sz="1150" dirty="0"/>
          </a:p>
        </p:txBody>
      </p:sp>
      <p:sp>
        <p:nvSpPr>
          <p:cNvPr id="27" name="Text 25"/>
          <p:cNvSpPr/>
          <p:nvPr/>
        </p:nvSpPr>
        <p:spPr>
          <a:xfrm>
            <a:off x="5084064" y="1280160"/>
            <a:ext cx="1481328" cy="23774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Week 5–6  (Apr 26 – May 9)</a:t>
            </a:r>
            <a:endParaRPr lang="en-US" sz="850" dirty="0"/>
          </a:p>
        </p:txBody>
      </p:sp>
      <p:sp>
        <p:nvSpPr>
          <p:cNvPr id="28" name="Shape 26"/>
          <p:cNvSpPr/>
          <p:nvPr/>
        </p:nvSpPr>
        <p:spPr>
          <a:xfrm>
            <a:off x="4581144" y="1572768"/>
            <a:ext cx="2011680" cy="2834640"/>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29" name="Shape 27"/>
          <p:cNvSpPr/>
          <p:nvPr/>
        </p:nvSpPr>
        <p:spPr>
          <a:xfrm>
            <a:off x="4581144" y="1572768"/>
            <a:ext cx="2011680" cy="45720"/>
          </a:xfrm>
          <a:prstGeom prst="rect">
            <a:avLst/>
          </a:prstGeom>
          <a:solidFill>
            <a:srgbClr val="0F7B8C"/>
          </a:solidFill>
          <a:ln w="12700">
            <a:solidFill>
              <a:srgbClr val="0F7B8C"/>
            </a:solidFill>
            <a:prstDash val="solid"/>
          </a:ln>
        </p:spPr>
      </p:sp>
      <p:sp>
        <p:nvSpPr>
          <p:cNvPr id="30" name="Text 28"/>
          <p:cNvSpPr/>
          <p:nvPr/>
        </p:nvSpPr>
        <p:spPr>
          <a:xfrm>
            <a:off x="4672584" y="1645920"/>
            <a:ext cx="1828800" cy="1828800"/>
          </a:xfrm>
          <a:prstGeom prst="rect">
            <a:avLst/>
          </a:prstGeom>
          <a:noFill/>
          <a:ln/>
        </p:spPr>
        <p:txBody>
          <a:bodyPr wrap="square" lIns="0" tIns="0" rIns="0" bIns="0" rtlCol="0" anchor="t"/>
          <a:lstStyle/>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Open registration with freemium tier</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Activate Clerk trial flow (14-day Pro)</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Monitor D1 sync and conflict rates</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TASI/EGX market data uptime tracking</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Launch Arabic landing page &amp; onboarding</a:t>
            </a:r>
            <a:endParaRPr lang="en-US" sz="1000" dirty="0"/>
          </a:p>
        </p:txBody>
      </p:sp>
      <p:sp>
        <p:nvSpPr>
          <p:cNvPr id="31" name="Shape 29"/>
          <p:cNvSpPr/>
          <p:nvPr/>
        </p:nvSpPr>
        <p:spPr>
          <a:xfrm>
            <a:off x="4581144" y="4114800"/>
            <a:ext cx="2011680" cy="310896"/>
          </a:xfrm>
          <a:prstGeom prst="rect">
            <a:avLst/>
          </a:prstGeom>
          <a:solidFill>
            <a:srgbClr val="0F7B8C"/>
          </a:solidFill>
          <a:ln w="12700">
            <a:solidFill>
              <a:srgbClr val="0F7B8C"/>
            </a:solidFill>
            <a:prstDash val="solid"/>
          </a:ln>
        </p:spPr>
      </p:sp>
      <p:sp>
        <p:nvSpPr>
          <p:cNvPr id="32" name="Text 30"/>
          <p:cNvSpPr/>
          <p:nvPr/>
        </p:nvSpPr>
        <p:spPr>
          <a:xfrm>
            <a:off x="4654296" y="4114800"/>
            <a:ext cx="1920240" cy="31089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GATE: </a:t>
            </a:r>
            <a:pPr indent="0" marL="0">
              <a:buNone/>
            </a:pPr>
            <a:r>
              <a:rPr lang="en-US" sz="850" dirty="0">
                <a:solidFill>
                  <a:srgbClr val="FFFFFF"/>
                </a:solidFill>
                <a:latin typeface="Calibri" pitchFamily="34" charset="0"/>
                <a:ea typeface="Calibri" pitchFamily="34" charset="-122"/>
                <a:cs typeface="Calibri" pitchFamily="34" charset="-120"/>
              </a:rPr>
              <a:t>NPS &gt; 40, uptime &gt; 99.5%</a:t>
            </a:r>
            <a:endParaRPr lang="en-US" sz="850" dirty="0"/>
          </a:p>
        </p:txBody>
      </p:sp>
      <p:sp>
        <p:nvSpPr>
          <p:cNvPr id="33" name="Shape 31"/>
          <p:cNvSpPr/>
          <p:nvPr/>
        </p:nvSpPr>
        <p:spPr>
          <a:xfrm>
            <a:off x="6757416" y="1005840"/>
            <a:ext cx="2011680" cy="530352"/>
          </a:xfrm>
          <a:prstGeom prst="rect">
            <a:avLst/>
          </a:prstGeom>
          <a:solidFill>
            <a:srgbClr val="1A8C5B"/>
          </a:solidFill>
          <a:ln w="12700">
            <a:solidFill>
              <a:srgbClr val="1A8C5B"/>
            </a:solidFill>
            <a:prstDash val="solid"/>
          </a:ln>
          <a:effectLst>
            <a:outerShdw sx="100000" sy="100000" kx="0" ky="0" algn="bl" rotWithShape="0" blurRad="63500" dist="25400" dir="8100000">
              <a:srgbClr val="000000">
                <a:alpha val="12000"/>
              </a:srgbClr>
            </a:outerShdw>
          </a:effectLst>
        </p:spPr>
      </p:sp>
      <p:sp>
        <p:nvSpPr>
          <p:cNvPr id="34" name="Text 32"/>
          <p:cNvSpPr/>
          <p:nvPr/>
        </p:nvSpPr>
        <p:spPr>
          <a:xfrm>
            <a:off x="6757416" y="1005840"/>
            <a:ext cx="50292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35" name="Text 33"/>
          <p:cNvSpPr/>
          <p:nvPr/>
        </p:nvSpPr>
        <p:spPr>
          <a:xfrm>
            <a:off x="7260336" y="1005840"/>
            <a:ext cx="1481328" cy="274320"/>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Full Public Launch</a:t>
            </a:r>
            <a:endParaRPr lang="en-US" sz="1150" dirty="0"/>
          </a:p>
        </p:txBody>
      </p:sp>
      <p:sp>
        <p:nvSpPr>
          <p:cNvPr id="36" name="Text 34"/>
          <p:cNvSpPr/>
          <p:nvPr/>
        </p:nvSpPr>
        <p:spPr>
          <a:xfrm>
            <a:off x="7260336" y="1280160"/>
            <a:ext cx="1481328" cy="23774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Week 7+  (May 10+)</a:t>
            </a:r>
            <a:endParaRPr lang="en-US" sz="850" dirty="0"/>
          </a:p>
        </p:txBody>
      </p:sp>
      <p:sp>
        <p:nvSpPr>
          <p:cNvPr id="37" name="Shape 35"/>
          <p:cNvSpPr/>
          <p:nvPr/>
        </p:nvSpPr>
        <p:spPr>
          <a:xfrm>
            <a:off x="6757416" y="1572768"/>
            <a:ext cx="2011680" cy="2834640"/>
          </a:xfrm>
          <a:prstGeom prst="rect">
            <a:avLst/>
          </a:prstGeom>
          <a:solidFill>
            <a:srgbClr val="FFFFFF"/>
          </a:solidFill>
          <a:ln w="12700">
            <a:solidFill>
              <a:srgbClr val="FFFFFF"/>
            </a:solidFill>
            <a:prstDash val="solid"/>
          </a:ln>
          <a:effectLst>
            <a:outerShdw sx="100000" sy="100000" kx="0" ky="0" algn="bl" rotWithShape="0" blurRad="63500" dist="25400" dir="8100000">
              <a:srgbClr val="000000">
                <a:alpha val="12000"/>
              </a:srgbClr>
            </a:outerShdw>
          </a:effectLst>
        </p:spPr>
      </p:sp>
      <p:sp>
        <p:nvSpPr>
          <p:cNvPr id="38" name="Shape 36"/>
          <p:cNvSpPr/>
          <p:nvPr/>
        </p:nvSpPr>
        <p:spPr>
          <a:xfrm>
            <a:off x="6757416" y="1572768"/>
            <a:ext cx="2011680" cy="45720"/>
          </a:xfrm>
          <a:prstGeom prst="rect">
            <a:avLst/>
          </a:prstGeom>
          <a:solidFill>
            <a:srgbClr val="1A8C5B"/>
          </a:solidFill>
          <a:ln w="12700">
            <a:solidFill>
              <a:srgbClr val="1A8C5B"/>
            </a:solidFill>
            <a:prstDash val="solid"/>
          </a:ln>
        </p:spPr>
      </p:sp>
      <p:sp>
        <p:nvSpPr>
          <p:cNvPr id="39" name="Text 37"/>
          <p:cNvSpPr/>
          <p:nvPr/>
        </p:nvSpPr>
        <p:spPr>
          <a:xfrm>
            <a:off x="6848856" y="1645920"/>
            <a:ext cx="1828800" cy="1828800"/>
          </a:xfrm>
          <a:prstGeom prst="rect">
            <a:avLst/>
          </a:prstGeom>
          <a:noFill/>
          <a:ln/>
        </p:spPr>
        <p:txBody>
          <a:bodyPr wrap="square" lIns="0" tIns="0" rIns="0" bIns="0" rtlCol="0" anchor="t"/>
          <a:lstStyle/>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Paid subscription activation (Core/Pro)</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Marketing: MENA fintech communities</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Portfolio analyzer AI promotion</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Partner outreach: SAHMK, financial blogs</a:t>
            </a:r>
            <a:endParaRPr lang="en-US" sz="1000" dirty="0"/>
          </a:p>
          <a:p>
            <a:pPr marL="342900" indent="-342900">
              <a:buSzPct val="100000"/>
              <a:buChar char="•"/>
            </a:pPr>
            <a:r>
              <a:rPr lang="en-US" sz="1000" dirty="0">
                <a:solidFill>
                  <a:srgbClr val="0B1740"/>
                </a:solidFill>
                <a:latin typeface="Calibri" pitchFamily="34" charset="0"/>
                <a:ea typeface="Calibri" pitchFamily="34" charset="-122"/>
                <a:cs typeface="Calibri" pitchFamily="34" charset="-120"/>
              </a:rPr>
              <a:t>Ongoing: monthly security review cycle</a:t>
            </a:r>
            <a:endParaRPr lang="en-US" sz="1000" dirty="0"/>
          </a:p>
        </p:txBody>
      </p:sp>
      <p:sp>
        <p:nvSpPr>
          <p:cNvPr id="40" name="Shape 38"/>
          <p:cNvSpPr/>
          <p:nvPr/>
        </p:nvSpPr>
        <p:spPr>
          <a:xfrm>
            <a:off x="6757416" y="4114800"/>
            <a:ext cx="2011680" cy="310896"/>
          </a:xfrm>
          <a:prstGeom prst="rect">
            <a:avLst/>
          </a:prstGeom>
          <a:solidFill>
            <a:srgbClr val="1A8C5B"/>
          </a:solidFill>
          <a:ln w="12700">
            <a:solidFill>
              <a:srgbClr val="1A8C5B"/>
            </a:solidFill>
            <a:prstDash val="solid"/>
          </a:ln>
        </p:spPr>
      </p:sp>
      <p:sp>
        <p:nvSpPr>
          <p:cNvPr id="41" name="Text 39"/>
          <p:cNvSpPr/>
          <p:nvPr/>
        </p:nvSpPr>
        <p:spPr>
          <a:xfrm>
            <a:off x="6830568" y="4114800"/>
            <a:ext cx="1920240" cy="31089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GATE: </a:t>
            </a:r>
            <a:pPr indent="0" marL="0">
              <a:buNone/>
            </a:pPr>
            <a:r>
              <a:rPr lang="en-US" sz="850" dirty="0">
                <a:solidFill>
                  <a:srgbClr val="FFFFFF"/>
                </a:solidFill>
                <a:latin typeface="Calibri" pitchFamily="34" charset="0"/>
                <a:ea typeface="Calibri" pitchFamily="34" charset="-122"/>
                <a:cs typeface="Calibri" pitchFamily="34" charset="-120"/>
              </a:rPr>
              <a:t>100 paying users, MRR target</a:t>
            </a:r>
            <a:endParaRPr lang="en-US" sz="850" dirty="0"/>
          </a:p>
        </p:txBody>
      </p:sp>
      <p:sp>
        <p:nvSpPr>
          <p:cNvPr id="42" name="Shape 40"/>
          <p:cNvSpPr/>
          <p:nvPr/>
        </p:nvSpPr>
        <p:spPr>
          <a:xfrm>
            <a:off x="4251960" y="1197864"/>
            <a:ext cx="109728" cy="219456"/>
          </a:xfrm>
          <a:prstGeom prst="rect">
            <a:avLst/>
          </a:prstGeom>
          <a:solidFill>
            <a:srgbClr val="64748B"/>
          </a:solidFill>
          <a:ln w="12700">
            <a:solidFill>
              <a:srgbClr val="64748B"/>
            </a:solidFill>
            <a:prstDash val="solid"/>
          </a:ln>
        </p:spPr>
      </p:sp>
      <p:sp>
        <p:nvSpPr>
          <p:cNvPr id="43" name="Shape 41"/>
          <p:cNvSpPr/>
          <p:nvPr/>
        </p:nvSpPr>
        <p:spPr>
          <a:xfrm>
            <a:off x="6592824" y="1197864"/>
            <a:ext cx="109728" cy="219456"/>
          </a:xfrm>
          <a:prstGeom prst="rect">
            <a:avLst/>
          </a:prstGeom>
          <a:solidFill>
            <a:srgbClr val="64748B"/>
          </a:solidFill>
          <a:ln w="12700">
            <a:solidFill>
              <a:srgbClr val="64748B"/>
            </a:solidFill>
            <a:prstDash val="solid"/>
          </a:ln>
        </p:spPr>
      </p:sp>
      <p:sp>
        <p:nvSpPr>
          <p:cNvPr id="44" name="Shape 42"/>
          <p:cNvSpPr/>
          <p:nvPr/>
        </p:nvSpPr>
        <p:spPr>
          <a:xfrm>
            <a:off x="8769096" y="1197864"/>
            <a:ext cx="109728" cy="219456"/>
          </a:xfrm>
          <a:prstGeom prst="rect">
            <a:avLst/>
          </a:prstGeom>
          <a:solidFill>
            <a:srgbClr val="64748B"/>
          </a:solidFill>
          <a:ln w="12700">
            <a:solidFill>
              <a:srgbClr val="64748B"/>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Go-Live Readiness Checklist</a:t>
            </a:r>
            <a:endParaRPr lang="en-US" sz="2600" dirty="0"/>
          </a:p>
        </p:txBody>
      </p:sp>
      <p:sp>
        <p:nvSpPr>
          <p:cNvPr id="4" name="Text 2"/>
          <p:cNvSpPr/>
          <p:nvPr/>
        </p:nvSpPr>
        <p:spPr>
          <a:xfrm>
            <a:off x="457200" y="768096"/>
            <a:ext cx="8229600" cy="292608"/>
          </a:xfrm>
          <a:prstGeom prst="rect">
            <a:avLst/>
          </a:prstGeom>
          <a:noFill/>
          <a:ln/>
        </p:spPr>
        <p:txBody>
          <a:bodyPr wrap="square" lIns="0" tIns="0" rIns="0" bIns="0" rtlCol="0" anchor="ctr"/>
          <a:lstStyle/>
          <a:p>
            <a:pPr indent="0" marL="0">
              <a:buNone/>
            </a:pPr>
            <a:r>
              <a:rPr lang="en-US" sz="1200" i="1" dirty="0">
                <a:solidFill>
                  <a:srgbClr val="C8DFFE"/>
                </a:solidFill>
                <a:latin typeface="Calibri" pitchFamily="34" charset="0"/>
                <a:ea typeface="Calibri" pitchFamily="34" charset="-122"/>
                <a:cs typeface="Calibri" pitchFamily="34" charset="-120"/>
              </a:rPr>
              <a:t>Gate criteria that must pass before flipping the production switch</a:t>
            </a:r>
            <a:endParaRPr lang="en-US" sz="1200" dirty="0"/>
          </a:p>
        </p:txBody>
      </p:sp>
      <p:sp>
        <p:nvSpPr>
          <p:cNvPr id="5" name="Shape 3"/>
          <p:cNvSpPr/>
          <p:nvPr/>
        </p:nvSpPr>
        <p:spPr>
          <a:xfrm>
            <a:off x="274320" y="1051560"/>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74320" y="1051560"/>
            <a:ext cx="64008" cy="685800"/>
          </a:xfrm>
          <a:prstGeom prst="rect">
            <a:avLst/>
          </a:prstGeom>
          <a:solidFill>
            <a:srgbClr val="D93025"/>
          </a:solidFill>
          <a:ln w="12700">
            <a:solidFill>
              <a:srgbClr val="D93025"/>
            </a:solidFill>
            <a:prstDash val="solid"/>
          </a:ln>
        </p:spPr>
      </p:sp>
      <p:sp>
        <p:nvSpPr>
          <p:cNvPr id="7" name="Text 5"/>
          <p:cNvSpPr/>
          <p:nvPr/>
        </p:nvSpPr>
        <p:spPr>
          <a:xfrm>
            <a:off x="402336" y="1051560"/>
            <a:ext cx="292608" cy="685800"/>
          </a:xfrm>
          <a:prstGeom prst="rect">
            <a:avLst/>
          </a:prstGeom>
          <a:noFill/>
          <a:ln/>
        </p:spPr>
        <p:txBody>
          <a:bodyPr wrap="square" lIns="0" tIns="0" rIns="0" bIns="0" rtlCol="0" anchor="ctr"/>
          <a:lstStyle/>
          <a:p>
            <a:pPr algn="ctr" indent="0" marL="0">
              <a:buNone/>
            </a:pPr>
            <a:r>
              <a:rPr lang="en-US" sz="1600" b="1" dirty="0">
                <a:solidFill>
                  <a:srgbClr val="D93025"/>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731520" y="1106424"/>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Security</a:t>
            </a:r>
            <a:endParaRPr lang="en-US" sz="850" dirty="0"/>
          </a:p>
        </p:txBody>
      </p:sp>
      <p:sp>
        <p:nvSpPr>
          <p:cNvPr id="9" name="Text 7"/>
          <p:cNvSpPr/>
          <p:nvPr/>
        </p:nvSpPr>
        <p:spPr>
          <a:xfrm>
            <a:off x="731520" y="1298448"/>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Replace in-memory rate limiter with Cloudflare KV — F-01</a:t>
            </a:r>
            <a:endParaRPr lang="en-US" sz="1000" dirty="0"/>
          </a:p>
        </p:txBody>
      </p:sp>
      <p:sp>
        <p:nvSpPr>
          <p:cNvPr id="10" name="Shape 8"/>
          <p:cNvSpPr/>
          <p:nvPr/>
        </p:nvSpPr>
        <p:spPr>
          <a:xfrm>
            <a:off x="274320" y="1837944"/>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74320" y="1837944"/>
            <a:ext cx="64008" cy="685800"/>
          </a:xfrm>
          <a:prstGeom prst="rect">
            <a:avLst/>
          </a:prstGeom>
          <a:solidFill>
            <a:srgbClr val="D93025"/>
          </a:solidFill>
          <a:ln w="12700">
            <a:solidFill>
              <a:srgbClr val="D93025"/>
            </a:solidFill>
            <a:prstDash val="solid"/>
          </a:ln>
        </p:spPr>
      </p:sp>
      <p:sp>
        <p:nvSpPr>
          <p:cNvPr id="12" name="Text 10"/>
          <p:cNvSpPr/>
          <p:nvPr/>
        </p:nvSpPr>
        <p:spPr>
          <a:xfrm>
            <a:off x="402336" y="1837944"/>
            <a:ext cx="292608" cy="685800"/>
          </a:xfrm>
          <a:prstGeom prst="rect">
            <a:avLst/>
          </a:prstGeom>
          <a:noFill/>
          <a:ln/>
        </p:spPr>
        <p:txBody>
          <a:bodyPr wrap="square" lIns="0" tIns="0" rIns="0" bIns="0" rtlCol="0" anchor="ctr"/>
          <a:lstStyle/>
          <a:p>
            <a:pPr algn="ctr" indent="0" marL="0">
              <a:buNone/>
            </a:pPr>
            <a:r>
              <a:rPr lang="en-US" sz="1600" b="1" dirty="0">
                <a:solidFill>
                  <a:srgbClr val="D93025"/>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731520" y="1892808"/>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Security</a:t>
            </a:r>
            <a:endParaRPr lang="en-US" sz="850" dirty="0"/>
          </a:p>
        </p:txBody>
      </p:sp>
      <p:sp>
        <p:nvSpPr>
          <p:cNvPr id="14" name="Text 12"/>
          <p:cNvSpPr/>
          <p:nvPr/>
        </p:nvSpPr>
        <p:spPr>
          <a:xfrm>
            <a:off x="731520" y="2084832"/>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Sanitize workspace string fields before AI system prompt injection — F-03</a:t>
            </a:r>
            <a:endParaRPr lang="en-US" sz="1000" dirty="0"/>
          </a:p>
        </p:txBody>
      </p:sp>
      <p:sp>
        <p:nvSpPr>
          <p:cNvPr id="15" name="Shape 13"/>
          <p:cNvSpPr/>
          <p:nvPr/>
        </p:nvSpPr>
        <p:spPr>
          <a:xfrm>
            <a:off x="274320" y="2624328"/>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16" name="Shape 14"/>
          <p:cNvSpPr/>
          <p:nvPr/>
        </p:nvSpPr>
        <p:spPr>
          <a:xfrm>
            <a:off x="274320" y="2624328"/>
            <a:ext cx="64008" cy="685800"/>
          </a:xfrm>
          <a:prstGeom prst="rect">
            <a:avLst/>
          </a:prstGeom>
          <a:solidFill>
            <a:srgbClr val="D93025"/>
          </a:solidFill>
          <a:ln w="12700">
            <a:solidFill>
              <a:srgbClr val="D93025"/>
            </a:solidFill>
            <a:prstDash val="solid"/>
          </a:ln>
        </p:spPr>
      </p:sp>
      <p:sp>
        <p:nvSpPr>
          <p:cNvPr id="17" name="Text 15"/>
          <p:cNvSpPr/>
          <p:nvPr/>
        </p:nvSpPr>
        <p:spPr>
          <a:xfrm>
            <a:off x="402336" y="2624328"/>
            <a:ext cx="292608" cy="685800"/>
          </a:xfrm>
          <a:prstGeom prst="rect">
            <a:avLst/>
          </a:prstGeom>
          <a:noFill/>
          <a:ln/>
        </p:spPr>
        <p:txBody>
          <a:bodyPr wrap="square" lIns="0" tIns="0" rIns="0" bIns="0" rtlCol="0" anchor="ctr"/>
          <a:lstStyle/>
          <a:p>
            <a:pPr algn="ctr" indent="0" marL="0">
              <a:buNone/>
            </a:pPr>
            <a:r>
              <a:rPr lang="en-US" sz="1600" b="1" dirty="0">
                <a:solidFill>
                  <a:srgbClr val="D93025"/>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731520" y="2679192"/>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Supply Chain</a:t>
            </a:r>
            <a:endParaRPr lang="en-US" sz="850" dirty="0"/>
          </a:p>
        </p:txBody>
      </p:sp>
      <p:sp>
        <p:nvSpPr>
          <p:cNvPr id="19" name="Text 17"/>
          <p:cNvSpPr/>
          <p:nvPr/>
        </p:nvSpPr>
        <p:spPr>
          <a:xfrm>
            <a:off x="731520" y="2871216"/>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Upgrade xlsx to v0.20.x or migrate to exceljs — SC-1</a:t>
            </a:r>
            <a:endParaRPr lang="en-US" sz="1000" dirty="0"/>
          </a:p>
        </p:txBody>
      </p:sp>
      <p:sp>
        <p:nvSpPr>
          <p:cNvPr id="20" name="Shape 18"/>
          <p:cNvSpPr/>
          <p:nvPr/>
        </p:nvSpPr>
        <p:spPr>
          <a:xfrm>
            <a:off x="274320" y="3410712"/>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274320" y="3410712"/>
            <a:ext cx="64008" cy="685800"/>
          </a:xfrm>
          <a:prstGeom prst="rect">
            <a:avLst/>
          </a:prstGeom>
          <a:solidFill>
            <a:srgbClr val="1A8C5B"/>
          </a:solidFill>
          <a:ln w="12700">
            <a:solidFill>
              <a:srgbClr val="1A8C5B"/>
            </a:solidFill>
            <a:prstDash val="solid"/>
          </a:ln>
        </p:spPr>
      </p:sp>
      <p:sp>
        <p:nvSpPr>
          <p:cNvPr id="22" name="Text 20"/>
          <p:cNvSpPr/>
          <p:nvPr/>
        </p:nvSpPr>
        <p:spPr>
          <a:xfrm>
            <a:off x="402336" y="3410712"/>
            <a:ext cx="292608" cy="685800"/>
          </a:xfrm>
          <a:prstGeom prst="rect">
            <a:avLst/>
          </a:prstGeom>
          <a:noFill/>
          <a:ln/>
        </p:spPr>
        <p:txBody>
          <a:bodyPr wrap="square" lIns="0" tIns="0" rIns="0" bIns="0" rtlCol="0" anchor="ctr"/>
          <a:lstStyle/>
          <a:p>
            <a:pPr algn="ctr" indent="0" marL="0">
              <a:buNone/>
            </a:pPr>
            <a:r>
              <a:rPr lang="en-US" sz="1600" b="1" dirty="0">
                <a:solidFill>
                  <a:srgbClr val="1A8C5B"/>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731520" y="3465576"/>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Auth</a:t>
            </a:r>
            <a:endParaRPr lang="en-US" sz="850" dirty="0"/>
          </a:p>
        </p:txBody>
      </p:sp>
      <p:sp>
        <p:nvSpPr>
          <p:cNvPr id="24" name="Text 22"/>
          <p:cNvSpPr/>
          <p:nvPr/>
        </p:nvSpPr>
        <p:spPr>
          <a:xfrm>
            <a:off x="731520" y="3657600"/>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Clerk JWT-based auth enforced server-side on all API routes ✓</a:t>
            </a:r>
            <a:endParaRPr lang="en-US" sz="1000" dirty="0"/>
          </a:p>
        </p:txBody>
      </p:sp>
      <p:sp>
        <p:nvSpPr>
          <p:cNvPr id="25" name="Shape 23"/>
          <p:cNvSpPr/>
          <p:nvPr/>
        </p:nvSpPr>
        <p:spPr>
          <a:xfrm>
            <a:off x="274320" y="4197096"/>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26" name="Shape 24"/>
          <p:cNvSpPr/>
          <p:nvPr/>
        </p:nvSpPr>
        <p:spPr>
          <a:xfrm>
            <a:off x="274320" y="4197096"/>
            <a:ext cx="64008" cy="685800"/>
          </a:xfrm>
          <a:prstGeom prst="rect">
            <a:avLst/>
          </a:prstGeom>
          <a:solidFill>
            <a:srgbClr val="1A8C5B"/>
          </a:solidFill>
          <a:ln w="12700">
            <a:solidFill>
              <a:srgbClr val="1A8C5B"/>
            </a:solidFill>
            <a:prstDash val="solid"/>
          </a:ln>
        </p:spPr>
      </p:sp>
      <p:sp>
        <p:nvSpPr>
          <p:cNvPr id="27" name="Text 25"/>
          <p:cNvSpPr/>
          <p:nvPr/>
        </p:nvSpPr>
        <p:spPr>
          <a:xfrm>
            <a:off x="402336" y="4197096"/>
            <a:ext cx="292608" cy="685800"/>
          </a:xfrm>
          <a:prstGeom prst="rect">
            <a:avLst/>
          </a:prstGeom>
          <a:noFill/>
          <a:ln/>
        </p:spPr>
        <p:txBody>
          <a:bodyPr wrap="square" lIns="0" tIns="0" rIns="0" bIns="0" rtlCol="0" anchor="ctr"/>
          <a:lstStyle/>
          <a:p>
            <a:pPr algn="ctr" indent="0" marL="0">
              <a:buNone/>
            </a:pPr>
            <a:r>
              <a:rPr lang="en-US" sz="1600" b="1" dirty="0">
                <a:solidFill>
                  <a:srgbClr val="1A8C5B"/>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731520" y="4251960"/>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Headers</a:t>
            </a:r>
            <a:endParaRPr lang="en-US" sz="850" dirty="0"/>
          </a:p>
        </p:txBody>
      </p:sp>
      <p:sp>
        <p:nvSpPr>
          <p:cNvPr id="29" name="Text 27"/>
          <p:cNvSpPr/>
          <p:nvPr/>
        </p:nvSpPr>
        <p:spPr>
          <a:xfrm>
            <a:off x="731520" y="4443984"/>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CSP, HSTS, X-Frame-Options, Referrer-Policy all configured ✓</a:t>
            </a:r>
            <a:endParaRPr lang="en-US" sz="1000" dirty="0"/>
          </a:p>
        </p:txBody>
      </p:sp>
      <p:sp>
        <p:nvSpPr>
          <p:cNvPr id="30" name="Shape 28"/>
          <p:cNvSpPr/>
          <p:nvPr/>
        </p:nvSpPr>
        <p:spPr>
          <a:xfrm>
            <a:off x="4709160" y="1051560"/>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31" name="Shape 29"/>
          <p:cNvSpPr/>
          <p:nvPr/>
        </p:nvSpPr>
        <p:spPr>
          <a:xfrm>
            <a:off x="4709160" y="1051560"/>
            <a:ext cx="64008" cy="685800"/>
          </a:xfrm>
          <a:prstGeom prst="rect">
            <a:avLst/>
          </a:prstGeom>
          <a:solidFill>
            <a:srgbClr val="1A8C5B"/>
          </a:solidFill>
          <a:ln w="12700">
            <a:solidFill>
              <a:srgbClr val="1A8C5B"/>
            </a:solidFill>
            <a:prstDash val="solid"/>
          </a:ln>
        </p:spPr>
      </p:sp>
      <p:sp>
        <p:nvSpPr>
          <p:cNvPr id="32" name="Text 30"/>
          <p:cNvSpPr/>
          <p:nvPr/>
        </p:nvSpPr>
        <p:spPr>
          <a:xfrm>
            <a:off x="4837176" y="1051560"/>
            <a:ext cx="292608" cy="685800"/>
          </a:xfrm>
          <a:prstGeom prst="rect">
            <a:avLst/>
          </a:prstGeom>
          <a:noFill/>
          <a:ln/>
        </p:spPr>
        <p:txBody>
          <a:bodyPr wrap="square" lIns="0" tIns="0" rIns="0" bIns="0" rtlCol="0" anchor="ctr"/>
          <a:lstStyle/>
          <a:p>
            <a:pPr algn="ctr" indent="0" marL="0">
              <a:buNone/>
            </a:pPr>
            <a:r>
              <a:rPr lang="en-US" sz="1600" b="1" dirty="0">
                <a:solidFill>
                  <a:srgbClr val="1A8C5B"/>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5166360" y="1106424"/>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AI Safety</a:t>
            </a:r>
            <a:endParaRPr lang="en-US" sz="850" dirty="0"/>
          </a:p>
        </p:txBody>
      </p:sp>
      <p:sp>
        <p:nvSpPr>
          <p:cNvPr id="34" name="Text 32"/>
          <p:cNvSpPr/>
          <p:nvPr/>
        </p:nvSpPr>
        <p:spPr>
          <a:xfrm>
            <a:off x="5166360" y="1298448"/>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Prompt injection detection on user messages active (ai-safety.ts) ✓</a:t>
            </a:r>
            <a:endParaRPr lang="en-US" sz="1000" dirty="0"/>
          </a:p>
        </p:txBody>
      </p:sp>
      <p:sp>
        <p:nvSpPr>
          <p:cNvPr id="35" name="Shape 33"/>
          <p:cNvSpPr/>
          <p:nvPr/>
        </p:nvSpPr>
        <p:spPr>
          <a:xfrm>
            <a:off x="4709160" y="1837944"/>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36" name="Shape 34"/>
          <p:cNvSpPr/>
          <p:nvPr/>
        </p:nvSpPr>
        <p:spPr>
          <a:xfrm>
            <a:off x="4709160" y="1837944"/>
            <a:ext cx="64008" cy="685800"/>
          </a:xfrm>
          <a:prstGeom prst="rect">
            <a:avLst/>
          </a:prstGeom>
          <a:solidFill>
            <a:srgbClr val="1A8C5B"/>
          </a:solidFill>
          <a:ln w="12700">
            <a:solidFill>
              <a:srgbClr val="1A8C5B"/>
            </a:solidFill>
            <a:prstDash val="solid"/>
          </a:ln>
        </p:spPr>
      </p:sp>
      <p:sp>
        <p:nvSpPr>
          <p:cNvPr id="37" name="Text 35"/>
          <p:cNvSpPr/>
          <p:nvPr/>
        </p:nvSpPr>
        <p:spPr>
          <a:xfrm>
            <a:off x="4837176" y="1837944"/>
            <a:ext cx="292608" cy="685800"/>
          </a:xfrm>
          <a:prstGeom prst="rect">
            <a:avLst/>
          </a:prstGeom>
          <a:noFill/>
          <a:ln/>
        </p:spPr>
        <p:txBody>
          <a:bodyPr wrap="square" lIns="0" tIns="0" rIns="0" bIns="0" rtlCol="0" anchor="ctr"/>
          <a:lstStyle/>
          <a:p>
            <a:pPr algn="ctr" indent="0" marL="0">
              <a:buNone/>
            </a:pPr>
            <a:r>
              <a:rPr lang="en-US" sz="1600" b="1" dirty="0">
                <a:solidFill>
                  <a:srgbClr val="1A8C5B"/>
                </a:solidFill>
                <a:latin typeface="Calibri" pitchFamily="34" charset="0"/>
                <a:ea typeface="Calibri" pitchFamily="34" charset="-122"/>
                <a:cs typeface="Calibri" pitchFamily="34" charset="-120"/>
              </a:rPr>
              <a:t>✓</a:t>
            </a:r>
            <a:endParaRPr lang="en-US" sz="1600" dirty="0"/>
          </a:p>
        </p:txBody>
      </p:sp>
      <p:sp>
        <p:nvSpPr>
          <p:cNvPr id="38" name="Text 36"/>
          <p:cNvSpPr/>
          <p:nvPr/>
        </p:nvSpPr>
        <p:spPr>
          <a:xfrm>
            <a:off x="5166360" y="1892808"/>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OCR</a:t>
            </a:r>
            <a:endParaRPr lang="en-US" sz="850" dirty="0"/>
          </a:p>
        </p:txBody>
      </p:sp>
      <p:sp>
        <p:nvSpPr>
          <p:cNvPr id="39" name="Text 37"/>
          <p:cNvSpPr/>
          <p:nvPr/>
        </p:nvSpPr>
        <p:spPr>
          <a:xfrm>
            <a:off x="5166360" y="2084832"/>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File type and magic byte validation on receipt uploads ✓</a:t>
            </a:r>
            <a:endParaRPr lang="en-US" sz="1000" dirty="0"/>
          </a:p>
        </p:txBody>
      </p:sp>
      <p:sp>
        <p:nvSpPr>
          <p:cNvPr id="40" name="Shape 38"/>
          <p:cNvSpPr/>
          <p:nvPr/>
        </p:nvSpPr>
        <p:spPr>
          <a:xfrm>
            <a:off x="4709160" y="2624328"/>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41" name="Shape 39"/>
          <p:cNvSpPr/>
          <p:nvPr/>
        </p:nvSpPr>
        <p:spPr>
          <a:xfrm>
            <a:off x="4709160" y="2624328"/>
            <a:ext cx="64008" cy="685800"/>
          </a:xfrm>
          <a:prstGeom prst="rect">
            <a:avLst/>
          </a:prstGeom>
          <a:solidFill>
            <a:srgbClr val="D93025"/>
          </a:solidFill>
          <a:ln w="12700">
            <a:solidFill>
              <a:srgbClr val="D93025"/>
            </a:solidFill>
            <a:prstDash val="solid"/>
          </a:ln>
        </p:spPr>
      </p:sp>
      <p:sp>
        <p:nvSpPr>
          <p:cNvPr id="42" name="Text 40"/>
          <p:cNvSpPr/>
          <p:nvPr/>
        </p:nvSpPr>
        <p:spPr>
          <a:xfrm>
            <a:off x="4837176" y="2624328"/>
            <a:ext cx="292608" cy="685800"/>
          </a:xfrm>
          <a:prstGeom prst="rect">
            <a:avLst/>
          </a:prstGeom>
          <a:noFill/>
          <a:ln/>
        </p:spPr>
        <p:txBody>
          <a:bodyPr wrap="square" lIns="0" tIns="0" rIns="0" bIns="0" rtlCol="0" anchor="ctr"/>
          <a:lstStyle/>
          <a:p>
            <a:pPr algn="ctr" indent="0" marL="0">
              <a:buNone/>
            </a:pPr>
            <a:r>
              <a:rPr lang="en-US" sz="1600" b="1" dirty="0">
                <a:solidFill>
                  <a:srgbClr val="D93025"/>
                </a:solidFill>
                <a:latin typeface="Calibri" pitchFamily="34" charset="0"/>
                <a:ea typeface="Calibri" pitchFamily="34" charset="-122"/>
                <a:cs typeface="Calibri" pitchFamily="34" charset="-120"/>
              </a:rPr>
              <a:t>✗</a:t>
            </a:r>
            <a:endParaRPr lang="en-US" sz="1600" dirty="0"/>
          </a:p>
        </p:txBody>
      </p:sp>
      <p:sp>
        <p:nvSpPr>
          <p:cNvPr id="43" name="Text 41"/>
          <p:cNvSpPr/>
          <p:nvPr/>
        </p:nvSpPr>
        <p:spPr>
          <a:xfrm>
            <a:off x="5166360" y="2679192"/>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Env</a:t>
            </a:r>
            <a:endParaRPr lang="en-US" sz="850" dirty="0"/>
          </a:p>
        </p:txBody>
      </p:sp>
      <p:sp>
        <p:nvSpPr>
          <p:cNvPr id="44" name="Text 42"/>
          <p:cNvSpPr/>
          <p:nvPr/>
        </p:nvSpPr>
        <p:spPr>
          <a:xfrm>
            <a:off x="5166360" y="2871216"/>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All secrets in Cloudflare environment vars (NVIDIA_API_KEY, SAHMK_API_KEY, CLERK_*)</a:t>
            </a:r>
            <a:endParaRPr lang="en-US" sz="1000" dirty="0"/>
          </a:p>
        </p:txBody>
      </p:sp>
      <p:sp>
        <p:nvSpPr>
          <p:cNvPr id="45" name="Shape 43"/>
          <p:cNvSpPr/>
          <p:nvPr/>
        </p:nvSpPr>
        <p:spPr>
          <a:xfrm>
            <a:off x="4709160" y="3410712"/>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46" name="Shape 44"/>
          <p:cNvSpPr/>
          <p:nvPr/>
        </p:nvSpPr>
        <p:spPr>
          <a:xfrm>
            <a:off x="4709160" y="3410712"/>
            <a:ext cx="64008" cy="685800"/>
          </a:xfrm>
          <a:prstGeom prst="rect">
            <a:avLst/>
          </a:prstGeom>
          <a:solidFill>
            <a:srgbClr val="D93025"/>
          </a:solidFill>
          <a:ln w="12700">
            <a:solidFill>
              <a:srgbClr val="D93025"/>
            </a:solidFill>
            <a:prstDash val="solid"/>
          </a:ln>
        </p:spPr>
      </p:sp>
      <p:sp>
        <p:nvSpPr>
          <p:cNvPr id="47" name="Text 45"/>
          <p:cNvSpPr/>
          <p:nvPr/>
        </p:nvSpPr>
        <p:spPr>
          <a:xfrm>
            <a:off x="4837176" y="3410712"/>
            <a:ext cx="292608" cy="685800"/>
          </a:xfrm>
          <a:prstGeom prst="rect">
            <a:avLst/>
          </a:prstGeom>
          <a:noFill/>
          <a:ln/>
        </p:spPr>
        <p:txBody>
          <a:bodyPr wrap="square" lIns="0" tIns="0" rIns="0" bIns="0" rtlCol="0" anchor="ctr"/>
          <a:lstStyle/>
          <a:p>
            <a:pPr algn="ctr" indent="0" marL="0">
              <a:buNone/>
            </a:pPr>
            <a:r>
              <a:rPr lang="en-US" sz="1600" b="1" dirty="0">
                <a:solidFill>
                  <a:srgbClr val="D93025"/>
                </a:solidFill>
                <a:latin typeface="Calibri" pitchFamily="34" charset="0"/>
                <a:ea typeface="Calibri" pitchFamily="34" charset="-122"/>
                <a:cs typeface="Calibri" pitchFamily="34" charset="-120"/>
              </a:rPr>
              <a:t>✗</a:t>
            </a:r>
            <a:endParaRPr lang="en-US" sz="1600" dirty="0"/>
          </a:p>
        </p:txBody>
      </p:sp>
      <p:sp>
        <p:nvSpPr>
          <p:cNvPr id="48" name="Text 46"/>
          <p:cNvSpPr/>
          <p:nvPr/>
        </p:nvSpPr>
        <p:spPr>
          <a:xfrm>
            <a:off x="5166360" y="3465576"/>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Observability</a:t>
            </a:r>
            <a:endParaRPr lang="en-US" sz="850" dirty="0"/>
          </a:p>
        </p:txBody>
      </p:sp>
      <p:sp>
        <p:nvSpPr>
          <p:cNvPr id="49" name="Text 47"/>
          <p:cNvSpPr/>
          <p:nvPr/>
        </p:nvSpPr>
        <p:spPr>
          <a:xfrm>
            <a:off x="5166360" y="3657600"/>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Cloudflare observability enabled — confirm dashboards + alerts active</a:t>
            </a:r>
            <a:endParaRPr lang="en-US" sz="1000" dirty="0"/>
          </a:p>
        </p:txBody>
      </p:sp>
      <p:sp>
        <p:nvSpPr>
          <p:cNvPr id="50" name="Shape 48"/>
          <p:cNvSpPr/>
          <p:nvPr/>
        </p:nvSpPr>
        <p:spPr>
          <a:xfrm>
            <a:off x="4709160" y="4197096"/>
            <a:ext cx="4206240" cy="6858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51" name="Shape 49"/>
          <p:cNvSpPr/>
          <p:nvPr/>
        </p:nvSpPr>
        <p:spPr>
          <a:xfrm>
            <a:off x="4709160" y="4197096"/>
            <a:ext cx="64008" cy="685800"/>
          </a:xfrm>
          <a:prstGeom prst="rect">
            <a:avLst/>
          </a:prstGeom>
          <a:solidFill>
            <a:srgbClr val="D93025"/>
          </a:solidFill>
          <a:ln w="12700">
            <a:solidFill>
              <a:srgbClr val="D93025"/>
            </a:solidFill>
            <a:prstDash val="solid"/>
          </a:ln>
        </p:spPr>
      </p:sp>
      <p:sp>
        <p:nvSpPr>
          <p:cNvPr id="52" name="Text 50"/>
          <p:cNvSpPr/>
          <p:nvPr/>
        </p:nvSpPr>
        <p:spPr>
          <a:xfrm>
            <a:off x="4837176" y="4197096"/>
            <a:ext cx="292608" cy="685800"/>
          </a:xfrm>
          <a:prstGeom prst="rect">
            <a:avLst/>
          </a:prstGeom>
          <a:noFill/>
          <a:ln/>
        </p:spPr>
        <p:txBody>
          <a:bodyPr wrap="square" lIns="0" tIns="0" rIns="0" bIns="0" rtlCol="0" anchor="ctr"/>
          <a:lstStyle/>
          <a:p>
            <a:pPr algn="ctr" indent="0" marL="0">
              <a:buNone/>
            </a:pPr>
            <a:r>
              <a:rPr lang="en-US" sz="1600" b="1" dirty="0">
                <a:solidFill>
                  <a:srgbClr val="D93025"/>
                </a:solidFill>
                <a:latin typeface="Calibri" pitchFamily="34" charset="0"/>
                <a:ea typeface="Calibri" pitchFamily="34" charset="-122"/>
                <a:cs typeface="Calibri" pitchFamily="34" charset="-120"/>
              </a:rPr>
              <a:t>✗</a:t>
            </a:r>
            <a:endParaRPr lang="en-US" sz="1600" dirty="0"/>
          </a:p>
        </p:txBody>
      </p:sp>
      <p:sp>
        <p:nvSpPr>
          <p:cNvPr id="53" name="Text 51"/>
          <p:cNvSpPr/>
          <p:nvPr/>
        </p:nvSpPr>
        <p:spPr>
          <a:xfrm>
            <a:off x="5166360" y="4251960"/>
            <a:ext cx="3657600" cy="182880"/>
          </a:xfrm>
          <a:prstGeom prst="rect">
            <a:avLst/>
          </a:prstGeom>
          <a:noFill/>
          <a:ln/>
        </p:spPr>
        <p:txBody>
          <a:bodyPr wrap="square" lIns="0" tIns="0" rIns="0" bIns="0" rtlCol="0" anchor="ctr"/>
          <a:lstStyle/>
          <a:p>
            <a:pPr indent="0" marL="0">
              <a:buNone/>
            </a:pPr>
            <a:r>
              <a:rPr lang="en-US" sz="850" i="1" dirty="0">
                <a:solidFill>
                  <a:srgbClr val="14A8BD"/>
                </a:solidFill>
                <a:latin typeface="Calibri" pitchFamily="34" charset="0"/>
                <a:ea typeface="Calibri" pitchFamily="34" charset="-122"/>
                <a:cs typeface="Calibri" pitchFamily="34" charset="-120"/>
              </a:rPr>
              <a:t>Legal</a:t>
            </a:r>
            <a:endParaRPr lang="en-US" sz="850" dirty="0"/>
          </a:p>
        </p:txBody>
      </p:sp>
      <p:sp>
        <p:nvSpPr>
          <p:cNvPr id="54" name="Text 52"/>
          <p:cNvSpPr/>
          <p:nvPr/>
        </p:nvSpPr>
        <p:spPr>
          <a:xfrm>
            <a:off x="5166360" y="4443984"/>
            <a:ext cx="3657600" cy="384048"/>
          </a:xfrm>
          <a:prstGeom prst="rect">
            <a:avLst/>
          </a:prstGeom>
          <a:noFill/>
          <a:ln/>
        </p:spPr>
        <p:txBody>
          <a:bodyPr wrap="square" lIns="0" tIns="0" rIns="0" bIns="0" rtlCol="0" anchor="t"/>
          <a:lstStyle/>
          <a:p>
            <a:pPr indent="0" marL="0">
              <a:buNone/>
            </a:pPr>
            <a:r>
              <a:rPr lang="en-US" sz="1000" dirty="0">
                <a:solidFill>
                  <a:srgbClr val="C8DFFE"/>
                </a:solidFill>
                <a:latin typeface="Calibri" pitchFamily="34" charset="0"/>
                <a:ea typeface="Calibri" pitchFamily="34" charset="-122"/>
                <a:cs typeface="Calibri" pitchFamily="34" charset="-120"/>
              </a:rPr>
              <a:t>Privacy policy and Terms of Service pages live (/privacy, /terms in app)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Shape 1"/>
          <p:cNvSpPr/>
          <p:nvPr/>
        </p:nvSpPr>
        <p:spPr>
          <a:xfrm>
            <a:off x="457200" y="228600"/>
            <a:ext cx="8229600" cy="141732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4" name="Shape 2"/>
          <p:cNvSpPr/>
          <p:nvPr/>
        </p:nvSpPr>
        <p:spPr>
          <a:xfrm>
            <a:off x="457200" y="228600"/>
            <a:ext cx="8229600" cy="64008"/>
          </a:xfrm>
          <a:prstGeom prst="rect">
            <a:avLst/>
          </a:prstGeom>
          <a:solidFill>
            <a:srgbClr val="E88A1A"/>
          </a:solidFill>
          <a:ln w="12700">
            <a:solidFill>
              <a:srgbClr val="E88A1A"/>
            </a:solidFill>
            <a:prstDash val="solid"/>
          </a:ln>
        </p:spPr>
      </p:sp>
      <p:pic>
        <p:nvPicPr>
          <p:cNvPr id="5" name="Image 0" descr="preencoded.png">    </p:cNvPr>
          <p:cNvPicPr>
            <a:picLocks noChangeAspect="1"/>
          </p:cNvPicPr>
          <p:nvPr/>
        </p:nvPicPr>
        <p:blipFill>
          <a:blip r:embed="rId1"/>
          <a:stretch>
            <a:fillRect/>
          </a:stretch>
        </p:blipFill>
        <p:spPr>
          <a:xfrm>
            <a:off x="640080" y="411480"/>
            <a:ext cx="914400" cy="914400"/>
          </a:xfrm>
          <a:prstGeom prst="rect">
            <a:avLst/>
          </a:prstGeom>
        </p:spPr>
      </p:pic>
      <p:sp>
        <p:nvSpPr>
          <p:cNvPr id="6" name="Text 3"/>
          <p:cNvSpPr/>
          <p:nvPr/>
        </p:nvSpPr>
        <p:spPr>
          <a:xfrm>
            <a:off x="1737360" y="384048"/>
            <a:ext cx="6766560" cy="502920"/>
          </a:xfrm>
          <a:prstGeom prst="rect">
            <a:avLst/>
          </a:prstGeom>
          <a:noFill/>
          <a:ln/>
        </p:spPr>
        <p:txBody>
          <a:bodyPr wrap="square" lIns="0" tIns="0" rIns="0" bIns="0" rtlCol="0" anchor="ctr"/>
          <a:lstStyle/>
          <a:p>
            <a:pPr indent="0" marL="0">
              <a:buNone/>
            </a:pPr>
            <a:r>
              <a:rPr lang="en-US" sz="3000" b="1" spc="200" kern="0" dirty="0">
                <a:solidFill>
                  <a:srgbClr val="E88A1A"/>
                </a:solidFill>
                <a:latin typeface="Calibri" pitchFamily="34" charset="0"/>
                <a:ea typeface="Calibri" pitchFamily="34" charset="-122"/>
                <a:cs typeface="Calibri" pitchFamily="34" charset="-120"/>
              </a:rPr>
              <a:t>CONDITIONAL GREEN LIGHT</a:t>
            </a:r>
            <a:endParaRPr lang="en-US" sz="3000" dirty="0"/>
          </a:p>
        </p:txBody>
      </p:sp>
      <p:sp>
        <p:nvSpPr>
          <p:cNvPr id="7" name="Text 4"/>
          <p:cNvSpPr/>
          <p:nvPr/>
        </p:nvSpPr>
        <p:spPr>
          <a:xfrm>
            <a:off x="1737360" y="886968"/>
            <a:ext cx="6766560" cy="658368"/>
          </a:xfrm>
          <a:prstGeom prst="rect">
            <a:avLst/>
          </a:prstGeom>
          <a:noFill/>
          <a:ln/>
        </p:spPr>
        <p:txBody>
          <a:bodyPr wrap="square" lIns="0" tIns="0" rIns="0" bIns="0" rtlCol="0" anchor="t"/>
          <a:lstStyle/>
          <a:p>
            <a:pPr indent="0" marL="0">
              <a:buNone/>
            </a:pPr>
            <a:r>
              <a:rPr lang="en-US" sz="1100" dirty="0">
                <a:solidFill>
                  <a:srgbClr val="C8DFFE"/>
                </a:solidFill>
                <a:latin typeface="Calibri" pitchFamily="34" charset="0"/>
                <a:ea typeface="Calibri" pitchFamily="34" charset="-122"/>
                <a:cs typeface="Calibri" pitchFamily="34" charset="-120"/>
              </a:rPr>
              <a:t>Wealix is architecturally sound and production-ready in terms of core functionality and identity management. The platform has strong auth, solid headers, and meaningful AI safety controls. Three specific issues must be resolved before go-live — all achievable in under 11 hours of engineering work.</a:t>
            </a:r>
            <a:endParaRPr lang="en-US" sz="1100" dirty="0"/>
          </a:p>
        </p:txBody>
      </p:sp>
      <p:sp>
        <p:nvSpPr>
          <p:cNvPr id="8" name="Shape 5"/>
          <p:cNvSpPr/>
          <p:nvPr/>
        </p:nvSpPr>
        <p:spPr>
          <a:xfrm>
            <a:off x="457200" y="1828800"/>
            <a:ext cx="8229600" cy="137160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9" name="Shape 6"/>
          <p:cNvSpPr/>
          <p:nvPr/>
        </p:nvSpPr>
        <p:spPr>
          <a:xfrm>
            <a:off x="457200" y="1828800"/>
            <a:ext cx="64008" cy="1371600"/>
          </a:xfrm>
          <a:prstGeom prst="rect">
            <a:avLst/>
          </a:prstGeom>
          <a:solidFill>
            <a:srgbClr val="C8A951"/>
          </a:solidFill>
          <a:ln w="12700">
            <a:solidFill>
              <a:srgbClr val="C8A951"/>
            </a:solidFill>
            <a:prstDash val="solid"/>
          </a:ln>
        </p:spPr>
      </p:sp>
      <p:sp>
        <p:nvSpPr>
          <p:cNvPr id="10" name="Text 7"/>
          <p:cNvSpPr/>
          <p:nvPr/>
        </p:nvSpPr>
        <p:spPr>
          <a:xfrm>
            <a:off x="658368" y="1901952"/>
            <a:ext cx="7863840" cy="274320"/>
          </a:xfrm>
          <a:prstGeom prst="rect">
            <a:avLst/>
          </a:prstGeom>
          <a:noFill/>
          <a:ln/>
        </p:spPr>
        <p:txBody>
          <a:bodyPr wrap="square" lIns="0" tIns="0" rIns="0" bIns="0" rtlCol="0" anchor="ctr"/>
          <a:lstStyle/>
          <a:p>
            <a:pPr indent="0" marL="0">
              <a:buNone/>
            </a:pPr>
            <a:r>
              <a:rPr lang="en-US" sz="1300" b="1" dirty="0">
                <a:solidFill>
                  <a:srgbClr val="C8A951"/>
                </a:solidFill>
                <a:latin typeface="Calibri" pitchFamily="34" charset="0"/>
                <a:ea typeface="Calibri" pitchFamily="34" charset="-122"/>
                <a:cs typeface="Calibri" pitchFamily="34" charset="-120"/>
              </a:rPr>
              <a:t>My Professional View</a:t>
            </a:r>
            <a:endParaRPr lang="en-US" sz="1300" dirty="0"/>
          </a:p>
        </p:txBody>
      </p:sp>
      <p:sp>
        <p:nvSpPr>
          <p:cNvPr id="11" name="Text 8"/>
          <p:cNvSpPr/>
          <p:nvPr/>
        </p:nvSpPr>
        <p:spPr>
          <a:xfrm>
            <a:off x="658368" y="2212848"/>
            <a:ext cx="7863840" cy="914400"/>
          </a:xfrm>
          <a:prstGeom prst="rect">
            <a:avLst/>
          </a:prstGeom>
          <a:noFill/>
          <a:ln/>
        </p:spPr>
        <p:txBody>
          <a:bodyPr wrap="square" lIns="0" tIns="0" rIns="0" bIns="0" rtlCol="0" anchor="t"/>
          <a:lstStyle/>
          <a:p>
            <a:pPr indent="0" marL="0">
              <a:buNone/>
            </a:pPr>
            <a:r>
              <a:rPr lang="en-US" sz="1050" i="1" dirty="0">
                <a:solidFill>
                  <a:srgbClr val="C8DFFE"/>
                </a:solidFill>
                <a:latin typeface="Calibri" pitchFamily="34" charset="0"/>
                <a:ea typeface="Calibri" pitchFamily="34" charset="-122"/>
                <a:cs typeface="Calibri" pitchFamily="34" charset="-120"/>
              </a:rPr>
              <a:t>Wealix is one of the better-engineered personal finance apps I've reviewed for the MENA market. The decision to use Clerk instead of rolling custom auth, the prompt injection defenses baked into the receipt OCR, the magic-byte image validation, and the D1 parameterized queries all show a developer who thought about security before the audit — not after. The remaining issues are real but mechanical. The in-memory rate limiter is the one I'd flag as the genuine pre-launch risk: on Cloudflare Workers, rate limiting that doesn't survive isolate boundaries is effectively no rate limiting at all. Fix the three blockers, ship it, and iterate. The app is ready.</a:t>
            </a:r>
            <a:endParaRPr lang="en-US" sz="1050" dirty="0"/>
          </a:p>
        </p:txBody>
      </p:sp>
      <p:sp>
        <p:nvSpPr>
          <p:cNvPr id="12" name="Shape 9"/>
          <p:cNvSpPr/>
          <p:nvPr/>
        </p:nvSpPr>
        <p:spPr>
          <a:xfrm>
            <a:off x="457200" y="3337560"/>
            <a:ext cx="1874520" cy="146304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13" name="Shape 10"/>
          <p:cNvSpPr/>
          <p:nvPr/>
        </p:nvSpPr>
        <p:spPr>
          <a:xfrm>
            <a:off x="457200" y="3337560"/>
            <a:ext cx="54864" cy="1463040"/>
          </a:xfrm>
          <a:prstGeom prst="rect">
            <a:avLst/>
          </a:prstGeom>
          <a:solidFill>
            <a:srgbClr val="0F7B8C"/>
          </a:solidFill>
          <a:ln w="12700">
            <a:solidFill>
              <a:srgbClr val="0F7B8C"/>
            </a:solidFill>
            <a:prstDash val="solid"/>
          </a:ln>
        </p:spPr>
      </p:sp>
      <p:sp>
        <p:nvSpPr>
          <p:cNvPr id="14" name="Text 11"/>
          <p:cNvSpPr/>
          <p:nvPr/>
        </p:nvSpPr>
        <p:spPr>
          <a:xfrm>
            <a:off x="585216" y="3410712"/>
            <a:ext cx="169164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~11 hrs</a:t>
            </a:r>
            <a:endParaRPr lang="en-US" sz="3200" dirty="0"/>
          </a:p>
        </p:txBody>
      </p:sp>
      <p:sp>
        <p:nvSpPr>
          <p:cNvPr id="15" name="Text 12"/>
          <p:cNvSpPr/>
          <p:nvPr/>
        </p:nvSpPr>
        <p:spPr>
          <a:xfrm>
            <a:off x="585216" y="3904488"/>
            <a:ext cx="1691640" cy="219456"/>
          </a:xfrm>
          <a:prstGeom prst="rect">
            <a:avLst/>
          </a:prstGeom>
          <a:noFill/>
          <a:ln/>
        </p:spPr>
        <p:txBody>
          <a:bodyPr wrap="square" lIns="0" tIns="0" rIns="0" bIns="0" rtlCol="0" anchor="ctr"/>
          <a:lstStyle/>
          <a:p>
            <a:pPr indent="0" marL="0">
              <a:buNone/>
            </a:pPr>
            <a:r>
              <a:rPr lang="en-US" sz="1050" dirty="0">
                <a:solidFill>
                  <a:srgbClr val="C8DFFE"/>
                </a:solidFill>
                <a:latin typeface="Calibri" pitchFamily="34" charset="0"/>
                <a:ea typeface="Calibri" pitchFamily="34" charset="-122"/>
                <a:cs typeface="Calibri" pitchFamily="34" charset="-120"/>
              </a:rPr>
              <a:t>Pre-Launch Fix Time</a:t>
            </a:r>
            <a:endParaRPr lang="en-US" sz="1050" dirty="0"/>
          </a:p>
        </p:txBody>
      </p:sp>
      <p:sp>
        <p:nvSpPr>
          <p:cNvPr id="16" name="Shape 13"/>
          <p:cNvSpPr/>
          <p:nvPr/>
        </p:nvSpPr>
        <p:spPr>
          <a:xfrm>
            <a:off x="2532888" y="3337560"/>
            <a:ext cx="1874520" cy="146304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17" name="Shape 14"/>
          <p:cNvSpPr/>
          <p:nvPr/>
        </p:nvSpPr>
        <p:spPr>
          <a:xfrm>
            <a:off x="2532888" y="3337560"/>
            <a:ext cx="54864" cy="1463040"/>
          </a:xfrm>
          <a:prstGeom prst="rect">
            <a:avLst/>
          </a:prstGeom>
          <a:solidFill>
            <a:srgbClr val="0F7B8C"/>
          </a:solidFill>
          <a:ln w="12700">
            <a:solidFill>
              <a:srgbClr val="0F7B8C"/>
            </a:solidFill>
            <a:prstDash val="solid"/>
          </a:ln>
        </p:spPr>
      </p:sp>
      <p:sp>
        <p:nvSpPr>
          <p:cNvPr id="18" name="Text 15"/>
          <p:cNvSpPr/>
          <p:nvPr/>
        </p:nvSpPr>
        <p:spPr>
          <a:xfrm>
            <a:off x="2660904" y="3410712"/>
            <a:ext cx="169164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7.0 / 10</a:t>
            </a:r>
            <a:endParaRPr lang="en-US" sz="3200" dirty="0"/>
          </a:p>
        </p:txBody>
      </p:sp>
      <p:sp>
        <p:nvSpPr>
          <p:cNvPr id="19" name="Text 16"/>
          <p:cNvSpPr/>
          <p:nvPr/>
        </p:nvSpPr>
        <p:spPr>
          <a:xfrm>
            <a:off x="2660904" y="3904488"/>
            <a:ext cx="1691640" cy="219456"/>
          </a:xfrm>
          <a:prstGeom prst="rect">
            <a:avLst/>
          </a:prstGeom>
          <a:noFill/>
          <a:ln/>
        </p:spPr>
        <p:txBody>
          <a:bodyPr wrap="square" lIns="0" tIns="0" rIns="0" bIns="0" rtlCol="0" anchor="ctr"/>
          <a:lstStyle/>
          <a:p>
            <a:pPr indent="0" marL="0">
              <a:buNone/>
            </a:pPr>
            <a:r>
              <a:rPr lang="en-US" sz="1050" dirty="0">
                <a:solidFill>
                  <a:srgbClr val="C8DFFE"/>
                </a:solidFill>
                <a:latin typeface="Calibri" pitchFamily="34" charset="0"/>
                <a:ea typeface="Calibri" pitchFamily="34" charset="-122"/>
                <a:cs typeface="Calibri" pitchFamily="34" charset="-120"/>
              </a:rPr>
              <a:t>Launch Readiness</a:t>
            </a:r>
            <a:endParaRPr lang="en-US" sz="1050" dirty="0"/>
          </a:p>
        </p:txBody>
      </p:sp>
      <p:sp>
        <p:nvSpPr>
          <p:cNvPr id="20" name="Shape 17"/>
          <p:cNvSpPr/>
          <p:nvPr/>
        </p:nvSpPr>
        <p:spPr>
          <a:xfrm>
            <a:off x="4608576" y="3337560"/>
            <a:ext cx="1874520" cy="146304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21" name="Shape 18"/>
          <p:cNvSpPr/>
          <p:nvPr/>
        </p:nvSpPr>
        <p:spPr>
          <a:xfrm>
            <a:off x="4608576" y="3337560"/>
            <a:ext cx="54864" cy="1463040"/>
          </a:xfrm>
          <a:prstGeom prst="rect">
            <a:avLst/>
          </a:prstGeom>
          <a:solidFill>
            <a:srgbClr val="0F7B8C"/>
          </a:solidFill>
          <a:ln w="12700">
            <a:solidFill>
              <a:srgbClr val="0F7B8C"/>
            </a:solidFill>
            <a:prstDash val="solid"/>
          </a:ln>
        </p:spPr>
      </p:sp>
      <p:sp>
        <p:nvSpPr>
          <p:cNvPr id="22" name="Text 19"/>
          <p:cNvSpPr/>
          <p:nvPr/>
        </p:nvSpPr>
        <p:spPr>
          <a:xfrm>
            <a:off x="4736592" y="3410712"/>
            <a:ext cx="169164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Apr 26, 2026</a:t>
            </a:r>
            <a:endParaRPr lang="en-US" sz="3200" dirty="0"/>
          </a:p>
        </p:txBody>
      </p:sp>
      <p:sp>
        <p:nvSpPr>
          <p:cNvPr id="23" name="Text 20"/>
          <p:cNvSpPr/>
          <p:nvPr/>
        </p:nvSpPr>
        <p:spPr>
          <a:xfrm>
            <a:off x="4736592" y="3904488"/>
            <a:ext cx="1691640" cy="219456"/>
          </a:xfrm>
          <a:prstGeom prst="rect">
            <a:avLst/>
          </a:prstGeom>
          <a:noFill/>
          <a:ln/>
        </p:spPr>
        <p:txBody>
          <a:bodyPr wrap="square" lIns="0" tIns="0" rIns="0" bIns="0" rtlCol="0" anchor="ctr"/>
          <a:lstStyle/>
          <a:p>
            <a:pPr indent="0" marL="0">
              <a:buNone/>
            </a:pPr>
            <a:r>
              <a:rPr lang="en-US" sz="1050" dirty="0">
                <a:solidFill>
                  <a:srgbClr val="C8DFFE"/>
                </a:solidFill>
                <a:latin typeface="Calibri" pitchFamily="34" charset="0"/>
                <a:ea typeface="Calibri" pitchFamily="34" charset="-122"/>
                <a:cs typeface="Calibri" pitchFamily="34" charset="-120"/>
              </a:rPr>
              <a:t>Target Launch Date</a:t>
            </a:r>
            <a:endParaRPr lang="en-US" sz="1050" dirty="0"/>
          </a:p>
        </p:txBody>
      </p:sp>
      <p:sp>
        <p:nvSpPr>
          <p:cNvPr id="24" name="Shape 21"/>
          <p:cNvSpPr/>
          <p:nvPr/>
        </p:nvSpPr>
        <p:spPr>
          <a:xfrm>
            <a:off x="6684264" y="3337560"/>
            <a:ext cx="1874520" cy="1463040"/>
          </a:xfrm>
          <a:prstGeom prst="rect">
            <a:avLst/>
          </a:prstGeom>
          <a:solidFill>
            <a:srgbClr val="152560"/>
          </a:solidFill>
          <a:ln w="12700">
            <a:solidFill>
              <a:srgbClr val="152560"/>
            </a:solidFill>
            <a:prstDash val="solid"/>
          </a:ln>
          <a:effectLst>
            <a:outerShdw sx="100000" sy="100000" kx="0" ky="0" algn="bl" rotWithShape="0" blurRad="63500" dist="25400" dir="8100000">
              <a:srgbClr val="000000">
                <a:alpha val="12000"/>
              </a:srgbClr>
            </a:outerShdw>
          </a:effectLst>
        </p:spPr>
      </p:sp>
      <p:sp>
        <p:nvSpPr>
          <p:cNvPr id="25" name="Shape 22"/>
          <p:cNvSpPr/>
          <p:nvPr/>
        </p:nvSpPr>
        <p:spPr>
          <a:xfrm>
            <a:off x="6684264" y="3337560"/>
            <a:ext cx="54864" cy="1463040"/>
          </a:xfrm>
          <a:prstGeom prst="rect">
            <a:avLst/>
          </a:prstGeom>
          <a:solidFill>
            <a:srgbClr val="0F7B8C"/>
          </a:solidFill>
          <a:ln w="12700">
            <a:solidFill>
              <a:srgbClr val="0F7B8C"/>
            </a:solidFill>
            <a:prstDash val="solid"/>
          </a:ln>
        </p:spPr>
      </p:sp>
      <p:sp>
        <p:nvSpPr>
          <p:cNvPr id="26" name="Text 23"/>
          <p:cNvSpPr/>
          <p:nvPr/>
        </p:nvSpPr>
        <p:spPr>
          <a:xfrm>
            <a:off x="6812280" y="3410712"/>
            <a:ext cx="169164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50–100 users</a:t>
            </a:r>
            <a:endParaRPr lang="en-US" sz="3200" dirty="0"/>
          </a:p>
        </p:txBody>
      </p:sp>
      <p:sp>
        <p:nvSpPr>
          <p:cNvPr id="27" name="Text 24"/>
          <p:cNvSpPr/>
          <p:nvPr/>
        </p:nvSpPr>
        <p:spPr>
          <a:xfrm>
            <a:off x="6812280" y="3904488"/>
            <a:ext cx="1691640" cy="219456"/>
          </a:xfrm>
          <a:prstGeom prst="rect">
            <a:avLst/>
          </a:prstGeom>
          <a:noFill/>
          <a:ln/>
        </p:spPr>
        <p:txBody>
          <a:bodyPr wrap="square" lIns="0" tIns="0" rIns="0" bIns="0" rtlCol="0" anchor="ctr"/>
          <a:lstStyle/>
          <a:p>
            <a:pPr indent="0" marL="0">
              <a:buNone/>
            </a:pPr>
            <a:r>
              <a:rPr lang="en-US" sz="1050" dirty="0">
                <a:solidFill>
                  <a:srgbClr val="C8DFFE"/>
                </a:solidFill>
                <a:latin typeface="Calibri" pitchFamily="34" charset="0"/>
                <a:ea typeface="Calibri" pitchFamily="34" charset="-122"/>
                <a:cs typeface="Calibri" pitchFamily="34" charset="-120"/>
              </a:rPr>
              <a:t>Beta User Goal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74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F7B8C"/>
          </a:solidFill>
          <a:ln w="12700">
            <a:solidFill>
              <a:srgbClr val="0F7B8C"/>
            </a:solidFill>
            <a:prstDash val="solid"/>
          </a:ln>
        </p:spPr>
      </p:sp>
      <p:sp>
        <p:nvSpPr>
          <p:cNvPr id="3" name="Shape 1"/>
          <p:cNvSpPr/>
          <p:nvPr/>
        </p:nvSpPr>
        <p:spPr>
          <a:xfrm>
            <a:off x="0" y="5074920"/>
            <a:ext cx="9144000" cy="64008"/>
          </a:xfrm>
          <a:prstGeom prst="rect">
            <a:avLst/>
          </a:prstGeom>
          <a:solidFill>
            <a:srgbClr val="0F7B8C"/>
          </a:solidFill>
          <a:ln w="12700">
            <a:solidFill>
              <a:srgbClr val="0F7B8C"/>
            </a:solidFill>
            <a:prstDash val="solid"/>
          </a:ln>
        </p:spPr>
      </p:sp>
      <p:sp>
        <p:nvSpPr>
          <p:cNvPr id="4" name="Shape 2"/>
          <p:cNvSpPr/>
          <p:nvPr/>
        </p:nvSpPr>
        <p:spPr>
          <a:xfrm>
            <a:off x="0" y="64008"/>
            <a:ext cx="3200400" cy="5010912"/>
          </a:xfrm>
          <a:prstGeom prst="rect">
            <a:avLst/>
          </a:prstGeom>
          <a:solidFill>
            <a:srgbClr val="152560"/>
          </a:solidFill>
          <a:ln w="12700">
            <a:solidFill>
              <a:srgbClr val="152560"/>
            </a:solidFill>
            <a:prstDash val="solid"/>
          </a:ln>
        </p:spPr>
      </p:sp>
      <p:pic>
        <p:nvPicPr>
          <p:cNvPr id="5" name="Image 0" descr="preencoded.png">    </p:cNvPr>
          <p:cNvPicPr>
            <a:picLocks noChangeAspect="1"/>
          </p:cNvPicPr>
          <p:nvPr/>
        </p:nvPicPr>
        <p:blipFill>
          <a:blip r:embed="rId1"/>
          <a:stretch>
            <a:fillRect/>
          </a:stretch>
        </p:blipFill>
        <p:spPr>
          <a:xfrm>
            <a:off x="822960" y="731520"/>
            <a:ext cx="1554480" cy="1554480"/>
          </a:xfrm>
          <a:prstGeom prst="rect">
            <a:avLst/>
          </a:prstGeom>
        </p:spPr>
      </p:pic>
      <p:sp>
        <p:nvSpPr>
          <p:cNvPr id="6" name="Text 3"/>
          <p:cNvSpPr/>
          <p:nvPr/>
        </p:nvSpPr>
        <p:spPr>
          <a:xfrm>
            <a:off x="0" y="2423160"/>
            <a:ext cx="3200400" cy="548640"/>
          </a:xfrm>
          <a:prstGeom prst="rect">
            <a:avLst/>
          </a:prstGeom>
          <a:noFill/>
          <a:ln/>
        </p:spPr>
        <p:txBody>
          <a:bodyPr wrap="square" lIns="0" tIns="0" rIns="0" bIns="0" rtlCol="0" anchor="ctr"/>
          <a:lstStyle/>
          <a:p>
            <a:pPr algn="ctr" indent="0" marL="0">
              <a:buNone/>
            </a:pPr>
            <a:r>
              <a:rPr lang="en-US" sz="2600" b="1" spc="600" kern="0" dirty="0">
                <a:solidFill>
                  <a:srgbClr val="FFFFFF"/>
                </a:solidFill>
                <a:latin typeface="Calibri" pitchFamily="34" charset="0"/>
                <a:ea typeface="Calibri" pitchFamily="34" charset="-122"/>
                <a:cs typeface="Calibri" pitchFamily="34" charset="-120"/>
              </a:rPr>
              <a:t>WEALIX</a:t>
            </a:r>
            <a:endParaRPr lang="en-US" sz="2600" dirty="0"/>
          </a:p>
        </p:txBody>
      </p:sp>
      <p:sp>
        <p:nvSpPr>
          <p:cNvPr id="7" name="Text 4"/>
          <p:cNvSpPr/>
          <p:nvPr/>
        </p:nvSpPr>
        <p:spPr>
          <a:xfrm>
            <a:off x="0" y="2999232"/>
            <a:ext cx="3200400" cy="256032"/>
          </a:xfrm>
          <a:prstGeom prst="rect">
            <a:avLst/>
          </a:prstGeom>
          <a:noFill/>
          <a:ln/>
        </p:spPr>
        <p:txBody>
          <a:bodyPr wrap="square" lIns="0" tIns="0" rIns="0" bIns="0" rtlCol="0" anchor="ctr"/>
          <a:lstStyle/>
          <a:p>
            <a:pPr algn="ctr" indent="0" marL="0">
              <a:buNone/>
            </a:pPr>
            <a:r>
              <a:rPr lang="en-US" sz="1100" i="1" dirty="0">
                <a:solidFill>
                  <a:srgbClr val="14A8BD"/>
                </a:solidFill>
                <a:latin typeface="Calibri" pitchFamily="34" charset="0"/>
                <a:ea typeface="Calibri" pitchFamily="34" charset="-122"/>
                <a:cs typeface="Calibri" pitchFamily="34" charset="-120"/>
              </a:rPr>
              <a:t>Security Audit Report</a:t>
            </a:r>
            <a:endParaRPr lang="en-US" sz="1100" dirty="0"/>
          </a:p>
        </p:txBody>
      </p:sp>
      <p:sp>
        <p:nvSpPr>
          <p:cNvPr id="8" name="Text 5"/>
          <p:cNvSpPr/>
          <p:nvPr/>
        </p:nvSpPr>
        <p:spPr>
          <a:xfrm>
            <a:off x="0" y="3291840"/>
            <a:ext cx="3200400" cy="237744"/>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March 2026</a:t>
            </a:r>
            <a:endParaRPr lang="en-US" sz="1000" dirty="0"/>
          </a:p>
        </p:txBody>
      </p:sp>
      <p:sp>
        <p:nvSpPr>
          <p:cNvPr id="9" name="Shape 6"/>
          <p:cNvSpPr/>
          <p:nvPr/>
        </p:nvSpPr>
        <p:spPr>
          <a:xfrm>
            <a:off x="365760" y="3703320"/>
            <a:ext cx="2468880" cy="27432"/>
          </a:xfrm>
          <a:prstGeom prst="rect">
            <a:avLst/>
          </a:prstGeom>
          <a:solidFill>
            <a:srgbClr val="0F7B8C"/>
          </a:solidFill>
          <a:ln w="12700">
            <a:solidFill>
              <a:srgbClr val="0F7B8C"/>
            </a:solidFill>
            <a:prstDash val="solid"/>
          </a:ln>
        </p:spPr>
      </p:sp>
      <p:sp>
        <p:nvSpPr>
          <p:cNvPr id="10" name="Text 7"/>
          <p:cNvSpPr/>
          <p:nvPr/>
        </p:nvSpPr>
        <p:spPr>
          <a:xfrm>
            <a:off x="0" y="3794760"/>
            <a:ext cx="3200400" cy="822960"/>
          </a:xfrm>
          <a:prstGeom prst="rect">
            <a:avLst/>
          </a:prstGeom>
          <a:noFill/>
          <a:ln/>
        </p:spPr>
        <p:txBody>
          <a:bodyPr wrap="square" lIns="0" tIns="0" rIns="0" bIns="0" rtlCol="0" anchor="t"/>
          <a:lstStyle/>
          <a:p>
            <a:pPr algn="ctr" indent="0" marL="0">
              <a:buNone/>
            </a:pPr>
            <a:r>
              <a:rPr lang="en-US" sz="950" dirty="0">
                <a:solidFill>
                  <a:srgbClr val="C8DFFE"/>
                </a:solidFill>
                <a:latin typeface="Calibri" pitchFamily="34" charset="0"/>
                <a:ea typeface="Calibri" pitchFamily="34" charset="-122"/>
                <a:cs typeface="Calibri" pitchFamily="34" charset="-120"/>
              </a:rPr>
              <a:t>Prepared by Mohammed</a:t>
            </a:r>
            <a:endParaRPr lang="en-US" sz="950" dirty="0"/>
          </a:p>
          <a:p>
            <a:pPr algn="ctr" indent="0" marL="0">
              <a:buNone/>
            </a:pPr>
            <a:r>
              <a:rPr lang="en-US" sz="950" dirty="0">
                <a:solidFill>
                  <a:srgbClr val="C8DFFE"/>
                </a:solidFill>
                <a:latin typeface="Calibri" pitchFamily="34" charset="0"/>
                <a:ea typeface="Calibri" pitchFamily="34" charset="-122"/>
                <a:cs typeface="Calibri" pitchFamily="34" charset="-120"/>
              </a:rPr>
              <a:t>Strategy Chief Officer</a:t>
            </a:r>
            <a:endParaRPr lang="en-US" sz="950" dirty="0"/>
          </a:p>
          <a:p>
            <a:pPr algn="ctr" indent="0" marL="0">
              <a:buNone/>
            </a:pPr>
            <a:r>
              <a:rPr lang="en-US" sz="950" dirty="0">
                <a:solidFill>
                  <a:srgbClr val="C8DFFE"/>
                </a:solidFill>
                <a:latin typeface="Calibri" pitchFamily="34" charset="0"/>
                <a:ea typeface="Calibri" pitchFamily="34" charset="-122"/>
                <a:cs typeface="Calibri" pitchFamily="34" charset="-120"/>
              </a:rPr>
              <a:t>Diversified Holding Group — Riyadh</a:t>
            </a:r>
            <a:endParaRPr lang="en-US" sz="950" dirty="0"/>
          </a:p>
        </p:txBody>
      </p:sp>
      <p:sp>
        <p:nvSpPr>
          <p:cNvPr id="11" name="Text 8"/>
          <p:cNvSpPr/>
          <p:nvPr/>
        </p:nvSpPr>
        <p:spPr>
          <a:xfrm>
            <a:off x="3474720" y="320040"/>
            <a:ext cx="539496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Summary &amp; Next Steps</a:t>
            </a:r>
            <a:endParaRPr lang="en-US" sz="2200" dirty="0"/>
          </a:p>
        </p:txBody>
      </p:sp>
      <p:sp>
        <p:nvSpPr>
          <p:cNvPr id="12" name="Shape 9"/>
          <p:cNvSpPr/>
          <p:nvPr/>
        </p:nvSpPr>
        <p:spPr>
          <a:xfrm>
            <a:off x="3474720" y="914400"/>
            <a:ext cx="347472" cy="347472"/>
          </a:xfrm>
          <a:prstGeom prst="rect">
            <a:avLst/>
          </a:prstGeom>
          <a:solidFill>
            <a:srgbClr val="D93025"/>
          </a:solidFill>
          <a:ln w="12700">
            <a:solidFill>
              <a:srgbClr val="D93025"/>
            </a:solidFill>
            <a:prstDash val="solid"/>
          </a:ln>
        </p:spPr>
      </p:sp>
      <p:sp>
        <p:nvSpPr>
          <p:cNvPr id="13" name="Text 10"/>
          <p:cNvSpPr/>
          <p:nvPr/>
        </p:nvSpPr>
        <p:spPr>
          <a:xfrm>
            <a:off x="3474720" y="91440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3913632" y="941832"/>
            <a:ext cx="4892040" cy="347472"/>
          </a:xfrm>
          <a:prstGeom prst="rect">
            <a:avLst/>
          </a:prstGeom>
          <a:noFill/>
          <a:ln/>
        </p:spPr>
        <p:txBody>
          <a:bodyPr wrap="square" lIns="0" tIns="0" rIns="0" bIns="0" rtlCol="0" anchor="ctr"/>
          <a:lstStyle/>
          <a:p>
            <a:pPr indent="0" marL="0">
              <a:buNone/>
            </a:pPr>
            <a:r>
              <a:rPr lang="en-US" sz="1100" dirty="0">
                <a:solidFill>
                  <a:srgbClr val="C8DFFE"/>
                </a:solidFill>
                <a:latin typeface="Calibri" pitchFamily="34" charset="0"/>
                <a:ea typeface="Calibri" pitchFamily="34" charset="-122"/>
                <a:cs typeface="Calibri" pitchFamily="34" charset="-120"/>
              </a:rPr>
              <a:t>Fix 3 pre-launch blockers (F-01, F-03, SC-1) — target completion: Apr 11</a:t>
            </a:r>
            <a:endParaRPr lang="en-US" sz="1100" dirty="0"/>
          </a:p>
        </p:txBody>
      </p:sp>
      <p:sp>
        <p:nvSpPr>
          <p:cNvPr id="15" name="Shape 12"/>
          <p:cNvSpPr/>
          <p:nvPr/>
        </p:nvSpPr>
        <p:spPr>
          <a:xfrm>
            <a:off x="3474720" y="1682496"/>
            <a:ext cx="347472" cy="347472"/>
          </a:xfrm>
          <a:prstGeom prst="rect">
            <a:avLst/>
          </a:prstGeom>
          <a:solidFill>
            <a:srgbClr val="E88A1A"/>
          </a:solidFill>
          <a:ln w="12700">
            <a:solidFill>
              <a:srgbClr val="E88A1A"/>
            </a:solidFill>
            <a:prstDash val="solid"/>
          </a:ln>
        </p:spPr>
      </p:sp>
      <p:sp>
        <p:nvSpPr>
          <p:cNvPr id="16" name="Text 13"/>
          <p:cNvSpPr/>
          <p:nvPr/>
        </p:nvSpPr>
        <p:spPr>
          <a:xfrm>
            <a:off x="3474720" y="16824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3913632" y="1709928"/>
            <a:ext cx="4892040" cy="347472"/>
          </a:xfrm>
          <a:prstGeom prst="rect">
            <a:avLst/>
          </a:prstGeom>
          <a:noFill/>
          <a:ln/>
        </p:spPr>
        <p:txBody>
          <a:bodyPr wrap="square" lIns="0" tIns="0" rIns="0" bIns="0" rtlCol="0" anchor="ctr"/>
          <a:lstStyle/>
          <a:p>
            <a:pPr indent="0" marL="0">
              <a:buNone/>
            </a:pPr>
            <a:r>
              <a:rPr lang="en-US" sz="1100" dirty="0">
                <a:solidFill>
                  <a:srgbClr val="C8DFFE"/>
                </a:solidFill>
                <a:latin typeface="Calibri" pitchFamily="34" charset="0"/>
                <a:ea typeface="Calibri" pitchFamily="34" charset="-122"/>
                <a:cs typeface="Calibri" pitchFamily="34" charset="-120"/>
              </a:rPr>
              <a:t>Run private beta with 50–100 invited users — Apr 12 to Apr 25</a:t>
            </a:r>
            <a:endParaRPr lang="en-US" sz="1100" dirty="0"/>
          </a:p>
        </p:txBody>
      </p:sp>
      <p:sp>
        <p:nvSpPr>
          <p:cNvPr id="18" name="Shape 15"/>
          <p:cNvSpPr/>
          <p:nvPr/>
        </p:nvSpPr>
        <p:spPr>
          <a:xfrm>
            <a:off x="3474720" y="2450592"/>
            <a:ext cx="347472" cy="347472"/>
          </a:xfrm>
          <a:prstGeom prst="rect">
            <a:avLst/>
          </a:prstGeom>
          <a:solidFill>
            <a:srgbClr val="0F7B8C"/>
          </a:solidFill>
          <a:ln w="12700">
            <a:solidFill>
              <a:srgbClr val="0F7B8C"/>
            </a:solidFill>
            <a:prstDash val="solid"/>
          </a:ln>
        </p:spPr>
      </p:sp>
      <p:sp>
        <p:nvSpPr>
          <p:cNvPr id="19" name="Text 16"/>
          <p:cNvSpPr/>
          <p:nvPr/>
        </p:nvSpPr>
        <p:spPr>
          <a:xfrm>
            <a:off x="3474720" y="24505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3913632" y="2478024"/>
            <a:ext cx="4892040" cy="347472"/>
          </a:xfrm>
          <a:prstGeom prst="rect">
            <a:avLst/>
          </a:prstGeom>
          <a:noFill/>
          <a:ln/>
        </p:spPr>
        <p:txBody>
          <a:bodyPr wrap="square" lIns="0" tIns="0" rIns="0" bIns="0" rtlCol="0" anchor="ctr"/>
          <a:lstStyle/>
          <a:p>
            <a:pPr indent="0" marL="0">
              <a:buNone/>
            </a:pPr>
            <a:r>
              <a:rPr lang="en-US" sz="1100" dirty="0">
                <a:solidFill>
                  <a:srgbClr val="C8DFFE"/>
                </a:solidFill>
                <a:latin typeface="Calibri" pitchFamily="34" charset="0"/>
                <a:ea typeface="Calibri" pitchFamily="34" charset="-122"/>
                <a:cs typeface="Calibri" pitchFamily="34" charset="-120"/>
              </a:rPr>
              <a:t>Soft public launch with freemium + 14-day Pro trial — Apr 26</a:t>
            </a:r>
            <a:endParaRPr lang="en-US" sz="1100" dirty="0"/>
          </a:p>
        </p:txBody>
      </p:sp>
      <p:sp>
        <p:nvSpPr>
          <p:cNvPr id="21" name="Shape 18"/>
          <p:cNvSpPr/>
          <p:nvPr/>
        </p:nvSpPr>
        <p:spPr>
          <a:xfrm>
            <a:off x="3474720" y="3218688"/>
            <a:ext cx="347472" cy="347472"/>
          </a:xfrm>
          <a:prstGeom prst="rect">
            <a:avLst/>
          </a:prstGeom>
          <a:solidFill>
            <a:srgbClr val="1A8C5B"/>
          </a:solidFill>
          <a:ln w="12700">
            <a:solidFill>
              <a:srgbClr val="1A8C5B"/>
            </a:solidFill>
            <a:prstDash val="solid"/>
          </a:ln>
        </p:spPr>
      </p:sp>
      <p:sp>
        <p:nvSpPr>
          <p:cNvPr id="22" name="Text 19"/>
          <p:cNvSpPr/>
          <p:nvPr/>
        </p:nvSpPr>
        <p:spPr>
          <a:xfrm>
            <a:off x="3474720" y="32186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3913632" y="3246120"/>
            <a:ext cx="4892040" cy="347472"/>
          </a:xfrm>
          <a:prstGeom prst="rect">
            <a:avLst/>
          </a:prstGeom>
          <a:noFill/>
          <a:ln/>
        </p:spPr>
        <p:txBody>
          <a:bodyPr wrap="square" lIns="0" tIns="0" rIns="0" bIns="0" rtlCol="0" anchor="ctr"/>
          <a:lstStyle/>
          <a:p>
            <a:pPr indent="0" marL="0">
              <a:buNone/>
            </a:pPr>
            <a:r>
              <a:rPr lang="en-US" sz="1100" dirty="0">
                <a:solidFill>
                  <a:srgbClr val="C8DFFE"/>
                </a:solidFill>
                <a:latin typeface="Calibri" pitchFamily="34" charset="0"/>
                <a:ea typeface="Calibri" pitchFamily="34" charset="-122"/>
                <a:cs typeface="Calibri" pitchFamily="34" charset="-120"/>
              </a:rPr>
              <a:t>Activate paid tiers and begin MENA marketing — May 10+</a:t>
            </a:r>
            <a:endParaRPr lang="en-US" sz="1100" dirty="0"/>
          </a:p>
        </p:txBody>
      </p:sp>
      <p:sp>
        <p:nvSpPr>
          <p:cNvPr id="24" name="Shape 21"/>
          <p:cNvSpPr/>
          <p:nvPr/>
        </p:nvSpPr>
        <p:spPr>
          <a:xfrm>
            <a:off x="3474720" y="3986784"/>
            <a:ext cx="347472" cy="347472"/>
          </a:xfrm>
          <a:prstGeom prst="rect">
            <a:avLst/>
          </a:prstGeom>
          <a:solidFill>
            <a:srgbClr val="C8A951"/>
          </a:solidFill>
          <a:ln w="12700">
            <a:solidFill>
              <a:srgbClr val="C8A951"/>
            </a:solidFill>
            <a:prstDash val="solid"/>
          </a:ln>
        </p:spPr>
      </p:sp>
      <p:sp>
        <p:nvSpPr>
          <p:cNvPr id="25" name="Text 22"/>
          <p:cNvSpPr/>
          <p:nvPr/>
        </p:nvSpPr>
        <p:spPr>
          <a:xfrm>
            <a:off x="3474720" y="398678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3"/>
          <p:cNvSpPr/>
          <p:nvPr/>
        </p:nvSpPr>
        <p:spPr>
          <a:xfrm>
            <a:off x="3913632" y="4014216"/>
            <a:ext cx="4892040" cy="347472"/>
          </a:xfrm>
          <a:prstGeom prst="rect">
            <a:avLst/>
          </a:prstGeom>
          <a:noFill/>
          <a:ln/>
        </p:spPr>
        <p:txBody>
          <a:bodyPr wrap="square" lIns="0" tIns="0" rIns="0" bIns="0" rtlCol="0" anchor="ctr"/>
          <a:lstStyle/>
          <a:p>
            <a:pPr indent="0" marL="0">
              <a:buNone/>
            </a:pPr>
            <a:r>
              <a:rPr lang="en-US" sz="1100" dirty="0">
                <a:solidFill>
                  <a:srgbClr val="C8DFFE"/>
                </a:solidFill>
                <a:latin typeface="Calibri" pitchFamily="34" charset="0"/>
                <a:ea typeface="Calibri" pitchFamily="34" charset="-122"/>
                <a:cs typeface="Calibri" pitchFamily="34" charset="-120"/>
              </a:rPr>
              <a:t>Establish monthly security review cycle — ongoing</a:t>
            </a:r>
            <a:endParaRPr lang="en-US" sz="1100" dirty="0"/>
          </a:p>
        </p:txBody>
      </p:sp>
      <p:sp>
        <p:nvSpPr>
          <p:cNvPr id="27" name="Shape 24"/>
          <p:cNvSpPr/>
          <p:nvPr/>
        </p:nvSpPr>
        <p:spPr>
          <a:xfrm>
            <a:off x="3474720" y="4736592"/>
            <a:ext cx="5394960" cy="36576"/>
          </a:xfrm>
          <a:prstGeom prst="rect">
            <a:avLst/>
          </a:prstGeom>
          <a:solidFill>
            <a:srgbClr val="0F7B8C"/>
          </a:solidFill>
          <a:ln w="12700">
            <a:solidFill>
              <a:srgbClr val="0F7B8C"/>
            </a:solidFill>
            <a:prstDash val="solid"/>
          </a:ln>
        </p:spPr>
      </p:sp>
      <p:sp>
        <p:nvSpPr>
          <p:cNvPr id="28" name="Text 25"/>
          <p:cNvSpPr/>
          <p:nvPr/>
        </p:nvSpPr>
        <p:spPr>
          <a:xfrm>
            <a:off x="3474720" y="4791456"/>
            <a:ext cx="5394960" cy="237744"/>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Tri-Role Engineering Security Framework  ·  Full Stack  ·  QA  ·  Security Engineering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Wealix — Security Audit &amp; Official Launch Plan</dc:title>
  <dc:subject>PptxGenJS Presentation</dc:subject>
  <dc:creator>Mohammed — Strategy &amp; Security Review</dc:creator>
  <cp:lastModifiedBy>Mohammed — Strategy &amp; Security Review</cp:lastModifiedBy>
  <cp:revision>1</cp:revision>
  <dcterms:created xsi:type="dcterms:W3CDTF">2026-03-28T08:03:08Z</dcterms:created>
  <dcterms:modified xsi:type="dcterms:W3CDTF">2026-03-28T08:03:08Z</dcterms:modified>
</cp:coreProperties>
</file>